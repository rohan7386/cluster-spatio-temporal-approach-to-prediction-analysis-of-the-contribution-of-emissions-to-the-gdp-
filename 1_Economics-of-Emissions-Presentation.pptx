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257" r:id="rId3"/>
    <p:sldId id="268" r:id="rId4"/>
    <p:sldId id="267" r:id="rId5"/>
    <p:sldId id="259" r:id="rId6"/>
    <p:sldId id="260" r:id="rId7"/>
    <p:sldId id="261" r:id="rId8"/>
    <p:sldId id="262"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84393" autoAdjust="0"/>
  </p:normalViewPr>
  <p:slideViewPr>
    <p:cSldViewPr snapToGrid="0">
      <p:cViewPr varScale="1">
        <p:scale>
          <a:sx n="98" d="100"/>
          <a:sy n="98" d="100"/>
        </p:scale>
        <p:origin x="76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2DF5E4-25C6-48CB-BA9A-786A27B72893}" type="datetimeFigureOut">
              <a:rPr lang="en-US" smtClean="0"/>
              <a:t>10/12/2025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5E30E6-45E2-4B3B-A022-65EE246E35FC}" type="slidenum">
              <a:rPr lang="en-US" smtClean="0"/>
              <a:t>‹#›</a:t>
            </a:fld>
            <a:endParaRPr lang="en-US"/>
          </a:p>
        </p:txBody>
      </p:sp>
    </p:spTree>
    <p:extLst>
      <p:ext uri="{BB962C8B-B14F-4D97-AF65-F5344CB8AC3E}">
        <p14:creationId xmlns:p14="http://schemas.microsoft.com/office/powerpoint/2010/main" val="3600271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Whereas industrialization has historically been linked to economic growth, the association between industrialization and emissions creates a dilemma; where continuous economic growth may only be pursued through continuous industrialization and in turn continuous emissions. </a:t>
            </a:r>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ED5E30E6-45E2-4B3B-A022-65EE246E35FC}" type="slidenum">
              <a:rPr lang="en-US" smtClean="0"/>
              <a:t>2</a:t>
            </a:fld>
            <a:endParaRPr lang="en-US"/>
          </a:p>
        </p:txBody>
      </p:sp>
    </p:spTree>
    <p:extLst>
      <p:ext uri="{BB962C8B-B14F-4D97-AF65-F5344CB8AC3E}">
        <p14:creationId xmlns:p14="http://schemas.microsoft.com/office/powerpoint/2010/main" val="2158585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a global economic powerhouse, a dilemma that may affect continuous economic growth becomes an issue of interest. </a:t>
            </a:r>
          </a:p>
          <a:p>
            <a:endParaRPr lang="en-US" dirty="0"/>
          </a:p>
          <a:p>
            <a:r>
              <a:rPr lang="en-US" dirty="0"/>
              <a:t>A forward thought is needed in determining a balance that would allow continuous economic growth while ensuring a reduction in the emission levels. </a:t>
            </a:r>
          </a:p>
          <a:p>
            <a:endParaRPr lang="en-US" dirty="0"/>
          </a:p>
          <a:p>
            <a:r>
              <a:rPr lang="en-US" dirty="0"/>
              <a:t>An investigation into how such a balance can be achieved provides an opportunity for guaranteeing the economic position of the United States into the future.  In this project, </a:t>
            </a:r>
            <a:r>
              <a:rPr lang="en-US" sz="1200" b="0" dirty="0">
                <a:latin typeface="Cambria" panose="02040503050406030204" pitchFamily="18" charset="0"/>
                <a:ea typeface="Cambria" panose="02040503050406030204" pitchFamily="18" charset="0"/>
              </a:rPr>
              <a:t>Prediction Analysis of the Contribution of Emissions to the GDP of the states in the United States of America is conducted using a Cluster-</a:t>
            </a:r>
            <a:r>
              <a:rPr lang="en-US" sz="1200" b="0" dirty="0" err="1">
                <a:latin typeface="Cambria" panose="02040503050406030204" pitchFamily="18" charset="0"/>
                <a:ea typeface="Cambria" panose="02040503050406030204" pitchFamily="18" charset="0"/>
              </a:rPr>
              <a:t>Spatio</a:t>
            </a:r>
            <a:r>
              <a:rPr lang="en-US" sz="1200" b="0" dirty="0">
                <a:latin typeface="Cambria" panose="02040503050406030204" pitchFamily="18" charset="0"/>
                <a:ea typeface="Cambria" panose="02040503050406030204" pitchFamily="18" charset="0"/>
              </a:rPr>
              <a:t>-Temporal Approach. </a:t>
            </a:r>
            <a:endParaRPr lang="en-US" b="0" dirty="0"/>
          </a:p>
        </p:txBody>
      </p:sp>
      <p:sp>
        <p:nvSpPr>
          <p:cNvPr id="4" name="Slide Number Placeholder 3"/>
          <p:cNvSpPr>
            <a:spLocks noGrp="1"/>
          </p:cNvSpPr>
          <p:nvPr>
            <p:ph type="sldNum" sz="quarter" idx="5"/>
          </p:nvPr>
        </p:nvSpPr>
        <p:spPr/>
        <p:txBody>
          <a:bodyPr/>
          <a:lstStyle/>
          <a:p>
            <a:fld id="{ED5E30E6-45E2-4B3B-A022-65EE246E35FC}" type="slidenum">
              <a:rPr lang="en-US" smtClean="0"/>
              <a:t>3</a:t>
            </a:fld>
            <a:endParaRPr lang="en-US"/>
          </a:p>
        </p:txBody>
      </p:sp>
    </p:spTree>
    <p:extLst>
      <p:ext uri="{BB962C8B-B14F-4D97-AF65-F5344CB8AC3E}">
        <p14:creationId xmlns:p14="http://schemas.microsoft.com/office/powerpoint/2010/main" val="42931173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Federal Reserve Economic Data (FRED) was used for sourcing data on economic performance across each of the states; this data captures the period between 2005 and 2023. </a:t>
            </a:r>
          </a:p>
          <a:p>
            <a:endParaRPr lang="en-US" dirty="0"/>
          </a:p>
          <a:p>
            <a:r>
              <a:rPr lang="en-US" dirty="0"/>
              <a:t>Data on the different emissions across each of the states was sourced from Emission Database for Global Atmospheric Research (EDGAR); this data capture the period between 1990 and 2023.</a:t>
            </a:r>
          </a:p>
          <a:p>
            <a:endParaRPr lang="en-US" dirty="0"/>
          </a:p>
          <a:p>
            <a:r>
              <a:rPr lang="en-US" dirty="0"/>
              <a:t>Both datasets were in wide formats and required transformation to long format for aggregation; this was in addition to the cleaning processes of filtering for the Country as United States and Sector as Industry in the emission datasets.</a:t>
            </a:r>
          </a:p>
        </p:txBody>
      </p:sp>
      <p:sp>
        <p:nvSpPr>
          <p:cNvPr id="4" name="Slide Number Placeholder 3"/>
          <p:cNvSpPr>
            <a:spLocks noGrp="1"/>
          </p:cNvSpPr>
          <p:nvPr>
            <p:ph type="sldNum" sz="quarter" idx="5"/>
          </p:nvPr>
        </p:nvSpPr>
        <p:spPr/>
        <p:txBody>
          <a:bodyPr/>
          <a:lstStyle/>
          <a:p>
            <a:fld id="{ED5E30E6-45E2-4B3B-A022-65EE246E35FC}" type="slidenum">
              <a:rPr lang="en-US" smtClean="0"/>
              <a:t>4</a:t>
            </a:fld>
            <a:endParaRPr lang="en-US"/>
          </a:p>
        </p:txBody>
      </p:sp>
    </p:spTree>
    <p:extLst>
      <p:ext uri="{BB962C8B-B14F-4D97-AF65-F5344CB8AC3E}">
        <p14:creationId xmlns:p14="http://schemas.microsoft.com/office/powerpoint/2010/main" val="410772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process for the project is displayed in the chart on the right. </a:t>
            </a:r>
          </a:p>
          <a:p>
            <a:endParaRPr lang="en-US" dirty="0"/>
          </a:p>
          <a:p>
            <a:r>
              <a:rPr lang="en-US" dirty="0">
                <a:ea typeface="Cambria" panose="02040503050406030204" pitchFamily="18" charset="0"/>
              </a:rPr>
              <a:t>The key analytics approaches applied were: Principal Component Analysis, </a:t>
            </a:r>
            <a:r>
              <a:rPr lang="en-US" dirty="0" err="1">
                <a:ea typeface="Cambria" panose="02040503050406030204" pitchFamily="18" charset="0"/>
              </a:rPr>
              <a:t>KMeans</a:t>
            </a:r>
            <a:r>
              <a:rPr lang="en-US" dirty="0">
                <a:ea typeface="Cambria" panose="02040503050406030204" pitchFamily="18" charset="0"/>
              </a:rPr>
              <a:t> Clustering, Geospatial Analysis and Predictive Modelling using Time Series Analysis. </a:t>
            </a:r>
          </a:p>
          <a:p>
            <a:endParaRPr lang="en-US" dirty="0">
              <a:ea typeface="Cambria"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ea typeface="Cambria" panose="02040503050406030204" pitchFamily="18" charset="0"/>
              </a:rPr>
              <a:t>Three models were utilized in the Predictive Modelling using Time Series Analysis: Random Forest Model, </a:t>
            </a:r>
            <a:r>
              <a:rPr lang="en-US" dirty="0" err="1">
                <a:ea typeface="Cambria" panose="02040503050406030204" pitchFamily="18" charset="0"/>
              </a:rPr>
              <a:t>XGBoost</a:t>
            </a:r>
            <a:r>
              <a:rPr lang="en-US" dirty="0">
                <a:ea typeface="Cambria" panose="02040503050406030204" pitchFamily="18" charset="0"/>
              </a:rPr>
              <a:t> Model and Light GBM Model. For the models, the GDP data will form the dependent variable while the set of independent variables will have the combined emissions, lagged combined emissions, Fossil CO2 Clusters, CH4 AR5 Clusters, NO2 AR5 Clusters and F-Gases AR5 Clusters. </a:t>
            </a:r>
          </a:p>
          <a:p>
            <a:endParaRPr lang="en-US" dirty="0">
              <a:ea typeface="Cambria" panose="02040503050406030204" pitchFamily="18" charset="0"/>
            </a:endParaRPr>
          </a:p>
          <a:p>
            <a:endParaRPr lang="en-US" dirty="0"/>
          </a:p>
        </p:txBody>
      </p:sp>
      <p:sp>
        <p:nvSpPr>
          <p:cNvPr id="4" name="Slide Number Placeholder 3"/>
          <p:cNvSpPr>
            <a:spLocks noGrp="1"/>
          </p:cNvSpPr>
          <p:nvPr>
            <p:ph type="sldNum" sz="quarter" idx="5"/>
          </p:nvPr>
        </p:nvSpPr>
        <p:spPr/>
        <p:txBody>
          <a:bodyPr/>
          <a:lstStyle/>
          <a:p>
            <a:fld id="{ED5E30E6-45E2-4B3B-A022-65EE246E35FC}" type="slidenum">
              <a:rPr lang="en-US" smtClean="0"/>
              <a:t>5</a:t>
            </a:fld>
            <a:endParaRPr lang="en-US"/>
          </a:p>
        </p:txBody>
      </p:sp>
    </p:spTree>
    <p:extLst>
      <p:ext uri="{BB962C8B-B14F-4D97-AF65-F5344CB8AC3E}">
        <p14:creationId xmlns:p14="http://schemas.microsoft.com/office/powerpoint/2010/main" val="1323364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presented above shows the overall descriptive statistics for both the emissions and the GDP data. </a:t>
            </a:r>
          </a:p>
          <a:p>
            <a:r>
              <a:rPr lang="en-US" dirty="0"/>
              <a:t>Both the GDP and Emissions data when aggregated for the entire US show no visible trend but rather a fluctuation about the same range of values; this is shown from the sizes of the data points and the movement of the line graph respectively. </a:t>
            </a:r>
          </a:p>
          <a:p>
            <a:r>
              <a:rPr lang="en-US" dirty="0"/>
              <a:t>The highest average GDP is observed for cluster 1 of the combined emissions and CH4 AR5, and cluster 2 of the Fossil CO2, N2O AR5 and F-Gases AR5. </a:t>
            </a:r>
          </a:p>
          <a:p>
            <a:r>
              <a:rPr lang="en-US" dirty="0"/>
              <a:t>The maps show that the distribution across the states for the cumulative GDP and emissions show similarities with high GDP occurring in places where there are high emissions and vice versa.</a:t>
            </a:r>
          </a:p>
        </p:txBody>
      </p:sp>
      <p:sp>
        <p:nvSpPr>
          <p:cNvPr id="4" name="Slide Number Placeholder 3"/>
          <p:cNvSpPr>
            <a:spLocks noGrp="1"/>
          </p:cNvSpPr>
          <p:nvPr>
            <p:ph type="sldNum" sz="quarter" idx="5"/>
          </p:nvPr>
        </p:nvSpPr>
        <p:spPr/>
        <p:txBody>
          <a:bodyPr/>
          <a:lstStyle/>
          <a:p>
            <a:fld id="{ED5E30E6-45E2-4B3B-A022-65EE246E35FC}" type="slidenum">
              <a:rPr lang="en-US" smtClean="0"/>
              <a:t>6</a:t>
            </a:fld>
            <a:endParaRPr lang="en-US"/>
          </a:p>
        </p:txBody>
      </p:sp>
    </p:spTree>
    <p:extLst>
      <p:ext uri="{BB962C8B-B14F-4D97-AF65-F5344CB8AC3E}">
        <p14:creationId xmlns:p14="http://schemas.microsoft.com/office/powerpoint/2010/main" val="32959222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for the Geospatial Analysis is presented above and shows that none of the emissions show clear similarity in the distribution of emission levels across the country. </a:t>
            </a:r>
          </a:p>
          <a:p>
            <a:r>
              <a:rPr lang="en-US" dirty="0"/>
              <a:t>However, in comparing the combined emissions map to the GDP map, we note that a similarity exists to some level. </a:t>
            </a:r>
          </a:p>
        </p:txBody>
      </p:sp>
      <p:sp>
        <p:nvSpPr>
          <p:cNvPr id="4" name="Slide Number Placeholder 3"/>
          <p:cNvSpPr>
            <a:spLocks noGrp="1"/>
          </p:cNvSpPr>
          <p:nvPr>
            <p:ph type="sldNum" sz="quarter" idx="5"/>
          </p:nvPr>
        </p:nvSpPr>
        <p:spPr/>
        <p:txBody>
          <a:bodyPr/>
          <a:lstStyle/>
          <a:p>
            <a:fld id="{ED5E30E6-45E2-4B3B-A022-65EE246E35FC}" type="slidenum">
              <a:rPr lang="en-US" smtClean="0"/>
              <a:t>7</a:t>
            </a:fld>
            <a:endParaRPr lang="en-US"/>
          </a:p>
        </p:txBody>
      </p:sp>
    </p:spTree>
    <p:extLst>
      <p:ext uri="{BB962C8B-B14F-4D97-AF65-F5344CB8AC3E}">
        <p14:creationId xmlns:p14="http://schemas.microsoft.com/office/powerpoint/2010/main" val="143450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Presented in the dashboard above are the results of the prediction analysis process. </a:t>
            </a:r>
          </a:p>
          <a:p>
            <a:r>
              <a:rPr lang="en-US" dirty="0"/>
              <a:t>Although all the models had very high R2 scores for the training set, the Random Forest model with default parameters had the highest R2 for the training set at 0.9766 indicating that the model explained up to 97.66% of the variation in the GDP. The model also has the lowest MAE at 37460.08 for the test set.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Although all the models had very high R2 scores for the test set, the tuned </a:t>
            </a:r>
            <a:r>
              <a:rPr lang="en-US" dirty="0" err="1"/>
              <a:t>XGBoost</a:t>
            </a:r>
            <a:r>
              <a:rPr lang="en-US" dirty="0"/>
              <a:t> model had the highest R2 for the testing set at 0.9178 indicating that the model explained up to 91.78% of the variation in the GDP. In addition, the model had the lowest RMSE of 64195.24 for the test set.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For the model with the highest R2 for the testing set, Tuned </a:t>
            </a:r>
            <a:r>
              <a:rPr lang="en-US" dirty="0" err="1"/>
              <a:t>XGBoost</a:t>
            </a:r>
            <a:r>
              <a:rPr lang="en-US" dirty="0"/>
              <a:t>, the two features with the highest importance were the dummy variables for the F-Gases AR5 clusters. </a:t>
            </a:r>
          </a:p>
        </p:txBody>
      </p:sp>
      <p:sp>
        <p:nvSpPr>
          <p:cNvPr id="4" name="Slide Number Placeholder 3"/>
          <p:cNvSpPr>
            <a:spLocks noGrp="1"/>
          </p:cNvSpPr>
          <p:nvPr>
            <p:ph type="sldNum" sz="quarter" idx="5"/>
          </p:nvPr>
        </p:nvSpPr>
        <p:spPr/>
        <p:txBody>
          <a:bodyPr/>
          <a:lstStyle/>
          <a:p>
            <a:fld id="{ED5E30E6-45E2-4B3B-A022-65EE246E35FC}" type="slidenum">
              <a:rPr lang="en-US" smtClean="0"/>
              <a:t>8</a:t>
            </a:fld>
            <a:endParaRPr lang="en-US"/>
          </a:p>
        </p:txBody>
      </p:sp>
    </p:spTree>
    <p:extLst>
      <p:ext uri="{BB962C8B-B14F-4D97-AF65-F5344CB8AC3E}">
        <p14:creationId xmlns:p14="http://schemas.microsoft.com/office/powerpoint/2010/main" val="3057662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lack of visible pattern in terms of the trend over time, for both the manufacturing GDP and Emissions, both fluctuate over a range of values. </a:t>
            </a:r>
          </a:p>
          <a:p>
            <a:endParaRPr lang="en-US" dirty="0"/>
          </a:p>
          <a:p>
            <a:r>
              <a:rPr lang="en-US" dirty="0"/>
              <a:t>The states with the highest average GDPs are observe to be belong in either cluster 1 or cluster 2 of the emission clusters across the combined clusters and the Fossil CO2, CH4 AR5, NO2 AR5 and F-Gases AR5. </a:t>
            </a:r>
          </a:p>
        </p:txBody>
      </p:sp>
      <p:sp>
        <p:nvSpPr>
          <p:cNvPr id="4" name="Slide Number Placeholder 3"/>
          <p:cNvSpPr>
            <a:spLocks noGrp="1"/>
          </p:cNvSpPr>
          <p:nvPr>
            <p:ph type="sldNum" sz="quarter" idx="5"/>
          </p:nvPr>
        </p:nvSpPr>
        <p:spPr/>
        <p:txBody>
          <a:bodyPr/>
          <a:lstStyle/>
          <a:p>
            <a:fld id="{ED5E30E6-45E2-4B3B-A022-65EE246E35FC}" type="slidenum">
              <a:rPr lang="en-US" smtClean="0"/>
              <a:t>9</a:t>
            </a:fld>
            <a:endParaRPr lang="en-US"/>
          </a:p>
        </p:txBody>
      </p:sp>
    </p:spTree>
    <p:extLst>
      <p:ext uri="{BB962C8B-B14F-4D97-AF65-F5344CB8AC3E}">
        <p14:creationId xmlns:p14="http://schemas.microsoft.com/office/powerpoint/2010/main" val="27497283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States with the highest cumulative emissions also have the highest cumulative GDP and vice versa. </a:t>
            </a:r>
          </a:p>
          <a:p>
            <a:endParaRPr lang="en-US" dirty="0"/>
          </a:p>
          <a:p>
            <a:r>
              <a:rPr lang="en-US" dirty="0"/>
              <a:t>Although the four emission types are all emissions, a difference exists in the how the levels of each of the four emission types, as well as the levels of the combined emissions, are distributed across the states in the United States; pointing at the extent of the independence of the emission to each other. </a:t>
            </a:r>
          </a:p>
          <a:p>
            <a:endParaRPr lang="en-US" dirty="0"/>
          </a:p>
          <a:p>
            <a:r>
              <a:rPr lang="en-US" dirty="0"/>
              <a:t>All the three modes, across both the training and testing sets have R2 scores greater than 0.8; this indicates that the prediction of the GDP using the emission related predictors is possible and practical. Among this models, the </a:t>
            </a:r>
            <a:r>
              <a:rPr lang="en-US" dirty="0" err="1"/>
              <a:t>XGBoost</a:t>
            </a:r>
            <a:r>
              <a:rPr lang="en-US" dirty="0"/>
              <a:t> model has the highest R2 score for the test set and is hence the best. For this model, the F-Gases AR5 features are the most important and consequently the most impactful for the GDP.</a:t>
            </a:r>
          </a:p>
        </p:txBody>
      </p:sp>
      <p:sp>
        <p:nvSpPr>
          <p:cNvPr id="4" name="Slide Number Placeholder 3"/>
          <p:cNvSpPr>
            <a:spLocks noGrp="1"/>
          </p:cNvSpPr>
          <p:nvPr>
            <p:ph type="sldNum" sz="quarter" idx="5"/>
          </p:nvPr>
        </p:nvSpPr>
        <p:spPr/>
        <p:txBody>
          <a:bodyPr/>
          <a:lstStyle/>
          <a:p>
            <a:fld id="{ED5E30E6-45E2-4B3B-A022-65EE246E35FC}" type="slidenum">
              <a:rPr lang="en-US" smtClean="0"/>
              <a:t>10</a:t>
            </a:fld>
            <a:endParaRPr lang="en-US"/>
          </a:p>
        </p:txBody>
      </p:sp>
    </p:spTree>
    <p:extLst>
      <p:ext uri="{BB962C8B-B14F-4D97-AF65-F5344CB8AC3E}">
        <p14:creationId xmlns:p14="http://schemas.microsoft.com/office/powerpoint/2010/main" val="2926006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is presented from the analysis on the concurrence of high cumulative GDP and high cumulative emissions across the states in the US. States. The states that formed the highest contributors to the GDP belonged to levels 1 and 2 of the emission types (including the combined emissions)</a:t>
            </a:r>
          </a:p>
          <a:p>
            <a:endParaRPr lang="en-US" dirty="0"/>
          </a:p>
          <a:p>
            <a:r>
              <a:rPr lang="en-US" dirty="0"/>
              <a:t>The predictive modelling showed that a time series component and emissions related predictors were sufficient for the prediction of the GDP. Specifically, the F-Gases AR5 was the most impactful on the GDP in the US. </a:t>
            </a:r>
          </a:p>
          <a:p>
            <a:r>
              <a:rPr lang="en-US" dirty="0"/>
              <a:t>Using this information, predictive modelling can be utilized in getting a balance on reduced emission with an acceptable economic performance with the F-Gases AR5 emission especially targeted for adjustments. </a:t>
            </a:r>
          </a:p>
        </p:txBody>
      </p:sp>
      <p:sp>
        <p:nvSpPr>
          <p:cNvPr id="4" name="Slide Number Placeholder 3"/>
          <p:cNvSpPr>
            <a:spLocks noGrp="1"/>
          </p:cNvSpPr>
          <p:nvPr>
            <p:ph type="sldNum" sz="quarter" idx="5"/>
          </p:nvPr>
        </p:nvSpPr>
        <p:spPr/>
        <p:txBody>
          <a:bodyPr/>
          <a:lstStyle/>
          <a:p>
            <a:fld id="{ED5E30E6-45E2-4B3B-A022-65EE246E35FC}" type="slidenum">
              <a:rPr lang="en-US" smtClean="0"/>
              <a:t>11</a:t>
            </a:fld>
            <a:endParaRPr lang="en-US"/>
          </a:p>
        </p:txBody>
      </p:sp>
    </p:spTree>
    <p:extLst>
      <p:ext uri="{BB962C8B-B14F-4D97-AF65-F5344CB8AC3E}">
        <p14:creationId xmlns:p14="http://schemas.microsoft.com/office/powerpoint/2010/main" val="138269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F7EBD-9ECA-4261-AD40-8073FA7E457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9FAA60-DDCA-42DE-B311-6797CD8DC3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7A88CA-9DAE-4E07-9203-8AC8417B4187}"/>
              </a:ext>
            </a:extLst>
          </p:cNvPr>
          <p:cNvSpPr>
            <a:spLocks noGrp="1"/>
          </p:cNvSpPr>
          <p:nvPr>
            <p:ph type="dt" sz="half" idx="10"/>
          </p:nvPr>
        </p:nvSpPr>
        <p:spPr/>
        <p:txBody>
          <a:bodyPr/>
          <a:lstStyle/>
          <a:p>
            <a:fld id="{D0EE4C5D-0A35-4337-BA10-9DB27D3561E1}" type="datetime1">
              <a:rPr lang="en-US" smtClean="0"/>
              <a:t>10/12/2025</a:t>
            </a:fld>
            <a:endParaRPr lang="en-US"/>
          </a:p>
        </p:txBody>
      </p:sp>
      <p:sp>
        <p:nvSpPr>
          <p:cNvPr id="5" name="Footer Placeholder 4">
            <a:extLst>
              <a:ext uri="{FF2B5EF4-FFF2-40B4-BE49-F238E27FC236}">
                <a16:creationId xmlns:a16="http://schemas.microsoft.com/office/drawing/2014/main" id="{2C0203BC-1BEA-4616-B1FD-1918E258BB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0CCB93-A320-49FA-9480-76917C83DCA6}"/>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91950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B67A3-1EC6-404A-AD88-340E1FC750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32AE4D-1566-4ABC-8D85-7C87B90614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5EC464-028E-4507-B3B9-C291602E1F7E}"/>
              </a:ext>
            </a:extLst>
          </p:cNvPr>
          <p:cNvSpPr>
            <a:spLocks noGrp="1"/>
          </p:cNvSpPr>
          <p:nvPr>
            <p:ph type="dt" sz="half" idx="10"/>
          </p:nvPr>
        </p:nvSpPr>
        <p:spPr/>
        <p:txBody>
          <a:bodyPr/>
          <a:lstStyle/>
          <a:p>
            <a:fld id="{699E7C7E-0535-4B8F-A937-AACD45CFBD53}" type="datetime1">
              <a:rPr lang="en-US" smtClean="0"/>
              <a:t>10/12/2025</a:t>
            </a:fld>
            <a:endParaRPr lang="en-US"/>
          </a:p>
        </p:txBody>
      </p:sp>
      <p:sp>
        <p:nvSpPr>
          <p:cNvPr id="5" name="Footer Placeholder 4">
            <a:extLst>
              <a:ext uri="{FF2B5EF4-FFF2-40B4-BE49-F238E27FC236}">
                <a16:creationId xmlns:a16="http://schemas.microsoft.com/office/drawing/2014/main" id="{2F4C89C2-22D6-4F16-838B-BA16B26746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E0D674-02EB-4681-BB84-E7C2FD5E06D1}"/>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030954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5031D-53B7-45CC-B200-FDD725B06D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961AE0-16DB-4FB0-B8B7-7B380A29CF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2BC8E9-08B0-4C2C-8904-B2D949C26059}"/>
              </a:ext>
            </a:extLst>
          </p:cNvPr>
          <p:cNvSpPr>
            <a:spLocks noGrp="1"/>
          </p:cNvSpPr>
          <p:nvPr>
            <p:ph type="dt" sz="half" idx="10"/>
          </p:nvPr>
        </p:nvSpPr>
        <p:spPr/>
        <p:txBody>
          <a:bodyPr/>
          <a:lstStyle/>
          <a:p>
            <a:fld id="{A2E10A53-3636-4007-A43B-CA794E2D9904}" type="datetime1">
              <a:rPr lang="en-US" smtClean="0"/>
              <a:t>10/12/2025</a:t>
            </a:fld>
            <a:endParaRPr lang="en-US"/>
          </a:p>
        </p:txBody>
      </p:sp>
      <p:sp>
        <p:nvSpPr>
          <p:cNvPr id="5" name="Footer Placeholder 4">
            <a:extLst>
              <a:ext uri="{FF2B5EF4-FFF2-40B4-BE49-F238E27FC236}">
                <a16:creationId xmlns:a16="http://schemas.microsoft.com/office/drawing/2014/main" id="{30B09DF0-17C6-4AE6-BD80-0956B234D1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4B17DC-CE80-45BC-B4DF-B5F85303CD69}"/>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41468338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1A840-1511-406C-997D-28134B919A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6768042-1942-4F31-BABD-717DDF2F4E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87D9AB-DD06-4FC1-84C4-4A0A5A7290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119E1DC-54F5-4BCD-83D1-CC8747ACAEC4}"/>
              </a:ext>
            </a:extLst>
          </p:cNvPr>
          <p:cNvSpPr>
            <a:spLocks noGrp="1"/>
          </p:cNvSpPr>
          <p:nvPr>
            <p:ph type="dt" sz="half" idx="10"/>
          </p:nvPr>
        </p:nvSpPr>
        <p:spPr/>
        <p:txBody>
          <a:bodyPr/>
          <a:lstStyle/>
          <a:p>
            <a:fld id="{4EE7DC2D-6894-4F75-9687-140C13BE5806}" type="datetime1">
              <a:rPr lang="en-US" smtClean="0"/>
              <a:t>10/12/2025</a:t>
            </a:fld>
            <a:endParaRPr lang="en-US"/>
          </a:p>
        </p:txBody>
      </p:sp>
      <p:sp>
        <p:nvSpPr>
          <p:cNvPr id="6" name="Footer Placeholder 5">
            <a:extLst>
              <a:ext uri="{FF2B5EF4-FFF2-40B4-BE49-F238E27FC236}">
                <a16:creationId xmlns:a16="http://schemas.microsoft.com/office/drawing/2014/main" id="{90C176DE-BEC7-4D00-8F7F-8F2F9DB3BF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2C51C8-8E48-4B2F-88D0-74630BB3B6D1}"/>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201837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F9016-D0E9-4BD5-9497-A30D21B2FD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C618E0A-0F97-4BA4-80DA-1375F0582B4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F76158-74A5-4E29-BCCF-11733371C2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1E7D60F-4405-4CDB-AB3E-84221DF1A1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AC1DB1-842F-4D48-99CA-8BC0ED2847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A5D0642-2473-4007-90D6-6AB0C750294C}"/>
              </a:ext>
            </a:extLst>
          </p:cNvPr>
          <p:cNvSpPr>
            <a:spLocks noGrp="1"/>
          </p:cNvSpPr>
          <p:nvPr>
            <p:ph type="dt" sz="half" idx="10"/>
          </p:nvPr>
        </p:nvSpPr>
        <p:spPr/>
        <p:txBody>
          <a:bodyPr/>
          <a:lstStyle/>
          <a:p>
            <a:fld id="{5F429C28-BF60-4EC9-8C71-E6C19F88BAB3}" type="datetime1">
              <a:rPr lang="en-US" smtClean="0"/>
              <a:t>10/12/2025</a:t>
            </a:fld>
            <a:endParaRPr lang="en-US"/>
          </a:p>
        </p:txBody>
      </p:sp>
      <p:sp>
        <p:nvSpPr>
          <p:cNvPr id="8" name="Footer Placeholder 7">
            <a:extLst>
              <a:ext uri="{FF2B5EF4-FFF2-40B4-BE49-F238E27FC236}">
                <a16:creationId xmlns:a16="http://schemas.microsoft.com/office/drawing/2014/main" id="{C7CE5962-AB2F-4C8C-B435-69A1E9FB7E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1C92D35-538A-4E68-BE91-5175DE3ECA00}"/>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531064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60486-AEC2-45BD-949B-CD4389CFFC1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E7C18D-2098-4451-A8C4-B8BB65A2DC2F}"/>
              </a:ext>
            </a:extLst>
          </p:cNvPr>
          <p:cNvSpPr>
            <a:spLocks noGrp="1"/>
          </p:cNvSpPr>
          <p:nvPr>
            <p:ph type="dt" sz="half" idx="10"/>
          </p:nvPr>
        </p:nvSpPr>
        <p:spPr/>
        <p:txBody>
          <a:bodyPr/>
          <a:lstStyle/>
          <a:p>
            <a:fld id="{9EAB569E-83B0-41FD-ACCF-F21CFAF717BD}" type="datetime1">
              <a:rPr lang="en-US" smtClean="0"/>
              <a:t>10/12/2025</a:t>
            </a:fld>
            <a:endParaRPr lang="en-US"/>
          </a:p>
        </p:txBody>
      </p:sp>
      <p:sp>
        <p:nvSpPr>
          <p:cNvPr id="4" name="Footer Placeholder 3">
            <a:extLst>
              <a:ext uri="{FF2B5EF4-FFF2-40B4-BE49-F238E27FC236}">
                <a16:creationId xmlns:a16="http://schemas.microsoft.com/office/drawing/2014/main" id="{F8375109-7DA6-4830-B539-5FA446735B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EB07AD9-187E-4135-B246-D4F8FB7EF48D}"/>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28339719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850319F-A5A8-45ED-9B87-73A681E51F21}"/>
              </a:ext>
            </a:extLst>
          </p:cNvPr>
          <p:cNvSpPr>
            <a:spLocks noGrp="1"/>
          </p:cNvSpPr>
          <p:nvPr>
            <p:ph type="dt" sz="half" idx="10"/>
          </p:nvPr>
        </p:nvSpPr>
        <p:spPr/>
        <p:txBody>
          <a:bodyPr/>
          <a:lstStyle/>
          <a:p>
            <a:fld id="{F313EF94-2700-49AB-9B71-AB1D629FD382}" type="datetime1">
              <a:rPr lang="en-US" smtClean="0"/>
              <a:t>10/12/2025</a:t>
            </a:fld>
            <a:endParaRPr lang="en-US"/>
          </a:p>
        </p:txBody>
      </p:sp>
      <p:sp>
        <p:nvSpPr>
          <p:cNvPr id="3" name="Footer Placeholder 2">
            <a:extLst>
              <a:ext uri="{FF2B5EF4-FFF2-40B4-BE49-F238E27FC236}">
                <a16:creationId xmlns:a16="http://schemas.microsoft.com/office/drawing/2014/main" id="{E17D46DB-14A2-4FAE-881A-AAB91EF95D4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14BF06-3CE4-42D4-90F0-0F7C0A08C672}"/>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756430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5672D-00FB-4E48-B9E7-1EBA8A620E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D92D4FC-9E73-48DC-B6BA-49564CCF193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CE0899-F759-4BB7-9F73-6C8E85A1A2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EE57B6-282C-4CD0-BBE1-F9DDC8787D0C}"/>
              </a:ext>
            </a:extLst>
          </p:cNvPr>
          <p:cNvSpPr>
            <a:spLocks noGrp="1"/>
          </p:cNvSpPr>
          <p:nvPr>
            <p:ph type="dt" sz="half" idx="10"/>
          </p:nvPr>
        </p:nvSpPr>
        <p:spPr/>
        <p:txBody>
          <a:bodyPr/>
          <a:lstStyle/>
          <a:p>
            <a:fld id="{BA43189B-CF47-4CEF-8FA6-F068119BD5DB}" type="datetime1">
              <a:rPr lang="en-US" smtClean="0"/>
              <a:t>10/12/2025</a:t>
            </a:fld>
            <a:endParaRPr lang="en-US"/>
          </a:p>
        </p:txBody>
      </p:sp>
      <p:sp>
        <p:nvSpPr>
          <p:cNvPr id="6" name="Footer Placeholder 5">
            <a:extLst>
              <a:ext uri="{FF2B5EF4-FFF2-40B4-BE49-F238E27FC236}">
                <a16:creationId xmlns:a16="http://schemas.microsoft.com/office/drawing/2014/main" id="{FBD34091-BB7C-43F3-A11D-E6EB387A6B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E186CB-28CA-4F3D-BE00-AE05409F7763}"/>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1429722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A6E78-834D-4CB6-8776-1B8DC526DB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7D33C56-FBF2-4DCF-AEBE-6F77FF5673B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4FD74C1-7A83-401B-9E8F-0E4716D2B4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D5AF5A-2548-479F-A768-96339AE85E71}"/>
              </a:ext>
            </a:extLst>
          </p:cNvPr>
          <p:cNvSpPr>
            <a:spLocks noGrp="1"/>
          </p:cNvSpPr>
          <p:nvPr>
            <p:ph type="dt" sz="half" idx="10"/>
          </p:nvPr>
        </p:nvSpPr>
        <p:spPr/>
        <p:txBody>
          <a:bodyPr/>
          <a:lstStyle/>
          <a:p>
            <a:fld id="{0F8F9480-3C57-4909-A58B-73B64ECA7767}" type="datetime1">
              <a:rPr lang="en-US" smtClean="0"/>
              <a:t>10/12/2025</a:t>
            </a:fld>
            <a:endParaRPr lang="en-US"/>
          </a:p>
        </p:txBody>
      </p:sp>
      <p:sp>
        <p:nvSpPr>
          <p:cNvPr id="6" name="Footer Placeholder 5">
            <a:extLst>
              <a:ext uri="{FF2B5EF4-FFF2-40B4-BE49-F238E27FC236}">
                <a16:creationId xmlns:a16="http://schemas.microsoft.com/office/drawing/2014/main" id="{CDAFEF11-9147-4928-BA8F-D75A0A766E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E68814-FA25-45EA-B5EA-DDD661A35455}"/>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889761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C8122-D773-4B21-88F2-76DEC90A5D9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1BC951-57CD-4285-9F14-C24092037AF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46AEF9-75A1-4952-ADD0-BF6D59DEDD85}"/>
              </a:ext>
            </a:extLst>
          </p:cNvPr>
          <p:cNvSpPr>
            <a:spLocks noGrp="1"/>
          </p:cNvSpPr>
          <p:nvPr>
            <p:ph type="dt" sz="half" idx="10"/>
          </p:nvPr>
        </p:nvSpPr>
        <p:spPr/>
        <p:txBody>
          <a:bodyPr/>
          <a:lstStyle/>
          <a:p>
            <a:fld id="{BAD5EE6D-E69A-4836-9C1B-E977C4FA3C99}" type="datetime1">
              <a:rPr lang="en-US" smtClean="0"/>
              <a:t>10/12/2025</a:t>
            </a:fld>
            <a:endParaRPr lang="en-US"/>
          </a:p>
        </p:txBody>
      </p:sp>
      <p:sp>
        <p:nvSpPr>
          <p:cNvPr id="5" name="Footer Placeholder 4">
            <a:extLst>
              <a:ext uri="{FF2B5EF4-FFF2-40B4-BE49-F238E27FC236}">
                <a16:creationId xmlns:a16="http://schemas.microsoft.com/office/drawing/2014/main" id="{C901D71F-AD75-42E0-85D3-D730DEAD9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557E5-2002-435A-A62B-A13756E50006}"/>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564635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CE3906-CD76-488E-B1A1-2B373DCAFF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2F012CB-C764-4194-BE5F-745B1ED9F9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E0EB7B-831A-499F-B042-52EB933AFA5E}"/>
              </a:ext>
            </a:extLst>
          </p:cNvPr>
          <p:cNvSpPr>
            <a:spLocks noGrp="1"/>
          </p:cNvSpPr>
          <p:nvPr>
            <p:ph type="dt" sz="half" idx="10"/>
          </p:nvPr>
        </p:nvSpPr>
        <p:spPr/>
        <p:txBody>
          <a:bodyPr/>
          <a:lstStyle/>
          <a:p>
            <a:fld id="{6FD2C270-75A0-40A3-9D60-3155056BA897}" type="datetime1">
              <a:rPr lang="en-US" smtClean="0"/>
              <a:t>10/12/2025</a:t>
            </a:fld>
            <a:endParaRPr lang="en-US"/>
          </a:p>
        </p:txBody>
      </p:sp>
      <p:sp>
        <p:nvSpPr>
          <p:cNvPr id="5" name="Footer Placeholder 4">
            <a:extLst>
              <a:ext uri="{FF2B5EF4-FFF2-40B4-BE49-F238E27FC236}">
                <a16:creationId xmlns:a16="http://schemas.microsoft.com/office/drawing/2014/main" id="{43579A04-667B-4CD8-B077-30568F3BA8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537355-8F3C-42A9-BC7E-669E0F730977}"/>
              </a:ext>
            </a:extLst>
          </p:cNvPr>
          <p:cNvSpPr>
            <a:spLocks noGrp="1"/>
          </p:cNvSpPr>
          <p:nvPr>
            <p:ph type="sldNum" sz="quarter" idx="12"/>
          </p:nvPr>
        </p:nvSpPr>
        <p:spPr/>
        <p:txBody>
          <a:bodyPr/>
          <a:lstStyle/>
          <a:p>
            <a:fld id="{2A8CBFF8-700D-4E9E-A457-92FADBD16F5F}" type="slidenum">
              <a:rPr lang="en-US" smtClean="0"/>
              <a:t>‹#›</a:t>
            </a:fld>
            <a:endParaRPr lang="en-US"/>
          </a:p>
        </p:txBody>
      </p:sp>
    </p:spTree>
    <p:extLst>
      <p:ext uri="{BB962C8B-B14F-4D97-AF65-F5344CB8AC3E}">
        <p14:creationId xmlns:p14="http://schemas.microsoft.com/office/powerpoint/2010/main" val="3785606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5000"/>
            <a:lum/>
          </a:blip>
          <a:srcRect/>
          <a:stretch>
            <a:fillRect l="-4000" r="-4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A2EC1E-47DE-41B7-818C-0DB1DE88BE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BD2B2F2-355F-4647-B3BD-EEE8B258B0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BF522D-7CB1-4F8F-AEE1-62A8FAD5EC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BD3DF0-641B-493F-85D5-6EDB3A1B5025}" type="datetime1">
              <a:rPr lang="en-US" smtClean="0"/>
              <a:t>10/12/2025</a:t>
            </a:fld>
            <a:endParaRPr lang="en-US"/>
          </a:p>
        </p:txBody>
      </p:sp>
      <p:sp>
        <p:nvSpPr>
          <p:cNvPr id="5" name="Footer Placeholder 4">
            <a:extLst>
              <a:ext uri="{FF2B5EF4-FFF2-40B4-BE49-F238E27FC236}">
                <a16:creationId xmlns:a16="http://schemas.microsoft.com/office/drawing/2014/main" id="{F641E2BD-20A1-469F-9DB9-770FAD0B1F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E71A09B-370A-46EE-AD92-323315B19F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8CBFF8-700D-4E9E-A457-92FADBD16F5F}" type="slidenum">
              <a:rPr lang="en-US" smtClean="0"/>
              <a:t>‹#›</a:t>
            </a:fld>
            <a:endParaRPr lang="en-US"/>
          </a:p>
        </p:txBody>
      </p:sp>
    </p:spTree>
    <p:extLst>
      <p:ext uri="{BB962C8B-B14F-4D97-AF65-F5344CB8AC3E}">
        <p14:creationId xmlns:p14="http://schemas.microsoft.com/office/powerpoint/2010/main" val="675530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hyperlink" Target="https://fredaccount.stlouisfed.org/public/datalist/5498/download"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hyperlink" Target="https://edgar.jrc.ec.europa.eu/dataset_ghg2024_nuts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8C81EA-BC57-4F79-86D5-E64DA43EA1D8}"/>
              </a:ext>
            </a:extLst>
          </p:cNvPr>
          <p:cNvPicPr>
            <a:picLocks noChangeAspect="1"/>
          </p:cNvPicPr>
          <p:nvPr/>
        </p:nvPicPr>
        <p:blipFill rotWithShape="1">
          <a:blip r:embed="rId2">
            <a:extLst>
              <a:ext uri="{28A0092B-C50C-407E-A947-70E740481C1C}">
                <a14:useLocalDpi xmlns:a14="http://schemas.microsoft.com/office/drawing/2010/main" val="0"/>
              </a:ext>
            </a:extLst>
          </a:blip>
          <a:srcRect r="40772"/>
          <a:stretch/>
        </p:blipFill>
        <p:spPr>
          <a:xfrm>
            <a:off x="4965469" y="490451"/>
            <a:ext cx="7226531" cy="6367549"/>
          </a:xfrm>
          <a:prstGeom prst="rect">
            <a:avLst/>
          </a:prstGeom>
        </p:spPr>
      </p:pic>
      <p:sp>
        <p:nvSpPr>
          <p:cNvPr id="2" name="Title 1">
            <a:extLst>
              <a:ext uri="{FF2B5EF4-FFF2-40B4-BE49-F238E27FC236}">
                <a16:creationId xmlns:a16="http://schemas.microsoft.com/office/drawing/2014/main" id="{B086DA8D-6152-4D84-B315-389ADBE2A128}"/>
              </a:ext>
            </a:extLst>
          </p:cNvPr>
          <p:cNvSpPr>
            <a:spLocks noGrp="1"/>
          </p:cNvSpPr>
          <p:nvPr>
            <p:ph type="ctrTitle"/>
          </p:nvPr>
        </p:nvSpPr>
        <p:spPr>
          <a:xfrm>
            <a:off x="796792" y="700745"/>
            <a:ext cx="3954087" cy="2387600"/>
          </a:xfrm>
        </p:spPr>
        <p:txBody>
          <a:bodyPr>
            <a:noAutofit/>
          </a:bodyPr>
          <a:lstStyle/>
          <a:p>
            <a:pPr algn="l"/>
            <a:r>
              <a:rPr lang="en-US" sz="4800" b="1" dirty="0">
                <a:latin typeface="Cambria" panose="02040503050406030204" pitchFamily="18" charset="0"/>
                <a:ea typeface="Cambria" panose="02040503050406030204" pitchFamily="18" charset="0"/>
              </a:rPr>
              <a:t>Economics of Emissions</a:t>
            </a:r>
            <a:r>
              <a:rPr lang="en-US" sz="4000" b="1" dirty="0">
                <a:latin typeface="Cambria" panose="02040503050406030204" pitchFamily="18" charset="0"/>
                <a:ea typeface="Cambria" panose="02040503050406030204" pitchFamily="18" charset="0"/>
              </a:rPr>
              <a:t> </a:t>
            </a:r>
            <a:br>
              <a:rPr lang="en-US" sz="3200" b="1" dirty="0">
                <a:latin typeface="Cambria" panose="02040503050406030204" pitchFamily="18" charset="0"/>
                <a:ea typeface="Cambria" panose="02040503050406030204" pitchFamily="18" charset="0"/>
              </a:rPr>
            </a:br>
            <a:r>
              <a:rPr lang="en-US" sz="1600" b="1" dirty="0">
                <a:latin typeface="Cambria" panose="02040503050406030204" pitchFamily="18" charset="0"/>
                <a:ea typeface="Cambria" panose="02040503050406030204" pitchFamily="18" charset="0"/>
              </a:rPr>
              <a:t>Prediction Analysis of the Contribution of Emissions to the GDP of the states in the United States of America using a Cluster-</a:t>
            </a:r>
            <a:r>
              <a:rPr lang="en-US" sz="1600" b="1" dirty="0" err="1">
                <a:latin typeface="Cambria" panose="02040503050406030204" pitchFamily="18" charset="0"/>
                <a:ea typeface="Cambria" panose="02040503050406030204" pitchFamily="18" charset="0"/>
              </a:rPr>
              <a:t>Spatio</a:t>
            </a:r>
            <a:r>
              <a:rPr lang="en-US" sz="1600" b="1" dirty="0">
                <a:latin typeface="Cambria" panose="02040503050406030204" pitchFamily="18" charset="0"/>
                <a:ea typeface="Cambria" panose="02040503050406030204" pitchFamily="18" charset="0"/>
              </a:rPr>
              <a:t>-Temporal Approach</a:t>
            </a:r>
            <a:endParaRPr lang="en-US" sz="3200"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9DD0EECE-10FF-4E90-BE7A-2773D6771230}"/>
              </a:ext>
            </a:extLst>
          </p:cNvPr>
          <p:cNvSpPr>
            <a:spLocks noGrp="1"/>
          </p:cNvSpPr>
          <p:nvPr>
            <p:ph type="subTitle" idx="1"/>
          </p:nvPr>
        </p:nvSpPr>
        <p:spPr>
          <a:xfrm>
            <a:off x="796792" y="3088345"/>
            <a:ext cx="3426073" cy="1094188"/>
          </a:xfrm>
        </p:spPr>
        <p:txBody>
          <a:bodyPr>
            <a:normAutofit/>
          </a:bodyPr>
          <a:lstStyle/>
          <a:p>
            <a:pPr algn="l"/>
            <a:r>
              <a:rPr lang="en-US" sz="1600" dirty="0">
                <a:latin typeface="Cambria" panose="02040503050406030204" pitchFamily="18" charset="0"/>
                <a:ea typeface="Cambria" panose="02040503050406030204" pitchFamily="18" charset="0"/>
              </a:rPr>
              <a:t>Name</a:t>
            </a:r>
          </a:p>
          <a:p>
            <a:pPr algn="l"/>
            <a:r>
              <a:rPr lang="en-US" sz="1600" dirty="0">
                <a:latin typeface="Cambria" panose="02040503050406030204" pitchFamily="18" charset="0"/>
                <a:ea typeface="Cambria" panose="02040503050406030204" pitchFamily="18" charset="0"/>
              </a:rPr>
              <a:t>Institution</a:t>
            </a:r>
          </a:p>
          <a:p>
            <a:pPr algn="l"/>
            <a:r>
              <a:rPr lang="en-US" sz="1600" dirty="0">
                <a:latin typeface="Cambria" panose="02040503050406030204" pitchFamily="18" charset="0"/>
                <a:ea typeface="Cambria" panose="02040503050406030204" pitchFamily="18" charset="0"/>
              </a:rPr>
              <a:t>Date</a:t>
            </a:r>
          </a:p>
        </p:txBody>
      </p:sp>
      <p:pic>
        <p:nvPicPr>
          <p:cNvPr id="9" name="Picture 8">
            <a:extLst>
              <a:ext uri="{FF2B5EF4-FFF2-40B4-BE49-F238E27FC236}">
                <a16:creationId xmlns:a16="http://schemas.microsoft.com/office/drawing/2014/main" id="{A3740B9F-EF44-45D3-9D7F-B4D0CFAAF949}"/>
              </a:ext>
            </a:extLst>
          </p:cNvPr>
          <p:cNvPicPr>
            <a:picLocks noChangeAspect="1"/>
          </p:cNvPicPr>
          <p:nvPr/>
        </p:nvPicPr>
        <p:blipFill rotWithShape="1">
          <a:blip r:embed="rId3">
            <a:extLst>
              <a:ext uri="{28A0092B-C50C-407E-A947-70E740481C1C}">
                <a14:useLocalDpi xmlns:a14="http://schemas.microsoft.com/office/drawing/2010/main" val="0"/>
              </a:ext>
            </a:extLst>
          </a:blip>
          <a:srcRect l="30681" r="22624" b="67635"/>
          <a:stretch/>
        </p:blipFill>
        <p:spPr>
          <a:xfrm>
            <a:off x="8578734" y="1209502"/>
            <a:ext cx="2046472" cy="2219498"/>
          </a:xfrm>
          <a:prstGeom prst="rect">
            <a:avLst/>
          </a:prstGeom>
        </p:spPr>
      </p:pic>
      <p:pic>
        <p:nvPicPr>
          <p:cNvPr id="10" name="Picture 9">
            <a:extLst>
              <a:ext uri="{FF2B5EF4-FFF2-40B4-BE49-F238E27FC236}">
                <a16:creationId xmlns:a16="http://schemas.microsoft.com/office/drawing/2014/main" id="{5EAD5BD0-1B2E-4E6C-ADC2-031AF851911E}"/>
              </a:ext>
            </a:extLst>
          </p:cNvPr>
          <p:cNvPicPr>
            <a:picLocks noChangeAspect="1"/>
          </p:cNvPicPr>
          <p:nvPr/>
        </p:nvPicPr>
        <p:blipFill rotWithShape="1">
          <a:blip r:embed="rId3">
            <a:extLst>
              <a:ext uri="{28A0092B-C50C-407E-A947-70E740481C1C}">
                <a14:useLocalDpi xmlns:a14="http://schemas.microsoft.com/office/drawing/2010/main" val="0"/>
              </a:ext>
            </a:extLst>
          </a:blip>
          <a:srcRect l="28872" r="10549" b="67635"/>
          <a:stretch/>
        </p:blipFill>
        <p:spPr>
          <a:xfrm>
            <a:off x="10839796" y="1238553"/>
            <a:ext cx="1370078" cy="1145353"/>
          </a:xfrm>
          <a:prstGeom prst="rect">
            <a:avLst/>
          </a:prstGeom>
        </p:spPr>
      </p:pic>
      <p:pic>
        <p:nvPicPr>
          <p:cNvPr id="11" name="Picture 10">
            <a:extLst>
              <a:ext uri="{FF2B5EF4-FFF2-40B4-BE49-F238E27FC236}">
                <a16:creationId xmlns:a16="http://schemas.microsoft.com/office/drawing/2014/main" id="{77FB698B-FFDF-40E3-8854-A333FCAA4D52}"/>
              </a:ext>
            </a:extLst>
          </p:cNvPr>
          <p:cNvPicPr>
            <a:picLocks noChangeAspect="1"/>
          </p:cNvPicPr>
          <p:nvPr/>
        </p:nvPicPr>
        <p:blipFill rotWithShape="1">
          <a:blip r:embed="rId3">
            <a:extLst>
              <a:ext uri="{28A0092B-C50C-407E-A947-70E740481C1C}">
                <a14:useLocalDpi xmlns:a14="http://schemas.microsoft.com/office/drawing/2010/main" val="0"/>
              </a:ext>
            </a:extLst>
          </a:blip>
          <a:srcRect l="28872" r="10549" b="67635"/>
          <a:stretch/>
        </p:blipFill>
        <p:spPr>
          <a:xfrm>
            <a:off x="8316729" y="2918669"/>
            <a:ext cx="1370078" cy="1145353"/>
          </a:xfrm>
          <a:prstGeom prst="rect">
            <a:avLst/>
          </a:prstGeom>
        </p:spPr>
      </p:pic>
    </p:spTree>
    <p:extLst>
      <p:ext uri="{BB962C8B-B14F-4D97-AF65-F5344CB8AC3E}">
        <p14:creationId xmlns:p14="http://schemas.microsoft.com/office/powerpoint/2010/main" val="3387678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A3EA1-8A4F-4C42-BD02-F3AC32597F46}"/>
              </a:ext>
            </a:extLst>
          </p:cNvPr>
          <p:cNvSpPr>
            <a:spLocks noGrp="1"/>
          </p:cNvSpPr>
          <p:nvPr>
            <p:ph type="title"/>
          </p:nvPr>
        </p:nvSpPr>
        <p:spPr/>
        <p:txBody>
          <a:bodyPr>
            <a:normAutofit/>
          </a:bodyPr>
          <a:lstStyle/>
          <a:p>
            <a:r>
              <a:rPr lang="en-US" sz="3600" b="1" dirty="0">
                <a:latin typeface="Cambria" panose="02040503050406030204" pitchFamily="18" charset="0"/>
                <a:ea typeface="Cambria" panose="02040503050406030204" pitchFamily="18" charset="0"/>
              </a:rPr>
              <a:t>Introduction</a:t>
            </a:r>
          </a:p>
        </p:txBody>
      </p:sp>
      <p:sp>
        <p:nvSpPr>
          <p:cNvPr id="6" name="Content Placeholder 5">
            <a:extLst>
              <a:ext uri="{FF2B5EF4-FFF2-40B4-BE49-F238E27FC236}">
                <a16:creationId xmlns:a16="http://schemas.microsoft.com/office/drawing/2014/main" id="{0F297B01-70DD-4261-9F86-6A104A48C4D6}"/>
              </a:ext>
            </a:extLst>
          </p:cNvPr>
          <p:cNvSpPr>
            <a:spLocks noGrp="1"/>
          </p:cNvSpPr>
          <p:nvPr>
            <p:ph sz="half" idx="1"/>
          </p:nvPr>
        </p:nvSpPr>
        <p:spPr>
          <a:xfrm>
            <a:off x="605444" y="1825625"/>
            <a:ext cx="6194367" cy="4184477"/>
          </a:xfrm>
        </p:spPr>
        <p:txBody>
          <a:bodyPr>
            <a:normAutofit fontScale="92500" lnSpcReduction="10000"/>
          </a:bodyPr>
          <a:lstStyle/>
          <a:p>
            <a:r>
              <a:rPr lang="en-US" dirty="0"/>
              <a:t>Industrialization has been a catalyst for economic growth since the first industrial revolution </a:t>
            </a:r>
            <a:r>
              <a:rPr lang="en-US" sz="1600" dirty="0"/>
              <a:t>(</a:t>
            </a:r>
            <a:r>
              <a:rPr lang="en-US" sz="1600" dirty="0" err="1"/>
              <a:t>Groumpos</a:t>
            </a:r>
            <a:r>
              <a:rPr lang="en-US" sz="1600" dirty="0"/>
              <a:t>, 2021) </a:t>
            </a:r>
            <a:r>
              <a:rPr lang="en-US" dirty="0"/>
              <a:t>. </a:t>
            </a:r>
          </a:p>
          <a:p>
            <a:endParaRPr lang="en-US" dirty="0"/>
          </a:p>
          <a:p>
            <a:r>
              <a:rPr lang="en-US" dirty="0"/>
              <a:t>However, emissions have also  characterized industrialization since the first industrialization. </a:t>
            </a:r>
          </a:p>
          <a:p>
            <a:endParaRPr lang="en-US" dirty="0"/>
          </a:p>
          <a:p>
            <a:r>
              <a:rPr lang="en-US" dirty="0"/>
              <a:t>A conflict hence arises on how to best balance economic growth and reduction in emissions.</a:t>
            </a:r>
          </a:p>
        </p:txBody>
      </p:sp>
      <p:pic>
        <p:nvPicPr>
          <p:cNvPr id="9" name="Content Placeholder 8">
            <a:extLst>
              <a:ext uri="{FF2B5EF4-FFF2-40B4-BE49-F238E27FC236}">
                <a16:creationId xmlns:a16="http://schemas.microsoft.com/office/drawing/2014/main" id="{9AD39BBB-9D21-4FE6-BE89-A29A31F8DA8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712229" y="3056198"/>
            <a:ext cx="6479771" cy="3801802"/>
          </a:xfrm>
        </p:spPr>
      </p:pic>
      <p:sp>
        <p:nvSpPr>
          <p:cNvPr id="10" name="Slide Number Placeholder 9">
            <a:extLst>
              <a:ext uri="{FF2B5EF4-FFF2-40B4-BE49-F238E27FC236}">
                <a16:creationId xmlns:a16="http://schemas.microsoft.com/office/drawing/2014/main" id="{755D2636-5F74-437E-A8FC-DF094B2D581E}"/>
              </a:ext>
            </a:extLst>
          </p:cNvPr>
          <p:cNvSpPr>
            <a:spLocks noGrp="1"/>
          </p:cNvSpPr>
          <p:nvPr>
            <p:ph type="sldNum" sz="quarter" idx="12"/>
          </p:nvPr>
        </p:nvSpPr>
        <p:spPr/>
        <p:txBody>
          <a:bodyPr/>
          <a:lstStyle/>
          <a:p>
            <a:fld id="{2A8CBFF8-700D-4E9E-A457-92FADBD16F5F}" type="slidenum">
              <a:rPr lang="en-US" smtClean="0"/>
              <a:t>2</a:t>
            </a:fld>
            <a:endParaRPr lang="en-US"/>
          </a:p>
        </p:txBody>
      </p:sp>
    </p:spTree>
    <p:extLst>
      <p:ext uri="{BB962C8B-B14F-4D97-AF65-F5344CB8AC3E}">
        <p14:creationId xmlns:p14="http://schemas.microsoft.com/office/powerpoint/2010/main" val="42434242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9AD39BBB-9D21-4FE6-BE89-A29A31F8DA8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0" y="3056198"/>
            <a:ext cx="6479771" cy="3801802"/>
          </a:xfrm>
        </p:spPr>
      </p:pic>
      <p:sp>
        <p:nvSpPr>
          <p:cNvPr id="2" name="Title 1">
            <a:extLst>
              <a:ext uri="{FF2B5EF4-FFF2-40B4-BE49-F238E27FC236}">
                <a16:creationId xmlns:a16="http://schemas.microsoft.com/office/drawing/2014/main" id="{C80A3EA1-8A4F-4C42-BD02-F3AC32597F46}"/>
              </a:ext>
            </a:extLst>
          </p:cNvPr>
          <p:cNvSpPr>
            <a:spLocks noGrp="1"/>
          </p:cNvSpPr>
          <p:nvPr>
            <p:ph type="title"/>
          </p:nvPr>
        </p:nvSpPr>
        <p:spPr/>
        <p:txBody>
          <a:bodyPr>
            <a:normAutofit/>
          </a:bodyPr>
          <a:lstStyle/>
          <a:p>
            <a:r>
              <a:rPr lang="en-US" sz="3600" b="1" dirty="0">
                <a:latin typeface="Cambria" panose="02040503050406030204" pitchFamily="18" charset="0"/>
                <a:ea typeface="Cambria" panose="02040503050406030204" pitchFamily="18" charset="0"/>
              </a:rPr>
              <a:t>Background</a:t>
            </a:r>
          </a:p>
        </p:txBody>
      </p:sp>
      <p:sp>
        <p:nvSpPr>
          <p:cNvPr id="6" name="Content Placeholder 5">
            <a:extLst>
              <a:ext uri="{FF2B5EF4-FFF2-40B4-BE49-F238E27FC236}">
                <a16:creationId xmlns:a16="http://schemas.microsoft.com/office/drawing/2014/main" id="{0F297B01-70DD-4261-9F86-6A104A48C4D6}"/>
              </a:ext>
            </a:extLst>
          </p:cNvPr>
          <p:cNvSpPr>
            <a:spLocks noGrp="1"/>
          </p:cNvSpPr>
          <p:nvPr>
            <p:ph sz="half" idx="1"/>
          </p:nvPr>
        </p:nvSpPr>
        <p:spPr>
          <a:xfrm>
            <a:off x="5731626" y="1457932"/>
            <a:ext cx="6194367" cy="4793239"/>
          </a:xfrm>
        </p:spPr>
        <p:txBody>
          <a:bodyPr>
            <a:normAutofit fontScale="85000" lnSpcReduction="20000"/>
          </a:bodyPr>
          <a:lstStyle/>
          <a:p>
            <a:r>
              <a:rPr lang="en-US" dirty="0"/>
              <a:t>The United States represents the biggest economy in the world and hence faces the biggest dilemma in terms of the balance between economic growth and reduction in emissions. </a:t>
            </a:r>
          </a:p>
          <a:p>
            <a:endParaRPr lang="en-US" dirty="0"/>
          </a:p>
          <a:p>
            <a:r>
              <a:rPr lang="en-US" dirty="0"/>
              <a:t>As a leader in world economics, the United States is also best placed to pioneer of the best approach for balancing economic growth and reduction in emissions. </a:t>
            </a:r>
          </a:p>
          <a:p>
            <a:endParaRPr lang="en-US" dirty="0"/>
          </a:p>
          <a:p>
            <a:r>
              <a:rPr lang="en-US" dirty="0"/>
              <a:t>This project considers the role of United States in dominance in global trade as well as the level of independence of the states in the US from a data analysis perspective.</a:t>
            </a:r>
          </a:p>
        </p:txBody>
      </p:sp>
      <p:sp>
        <p:nvSpPr>
          <p:cNvPr id="3" name="Slide Number Placeholder 2">
            <a:extLst>
              <a:ext uri="{FF2B5EF4-FFF2-40B4-BE49-F238E27FC236}">
                <a16:creationId xmlns:a16="http://schemas.microsoft.com/office/drawing/2014/main" id="{F2F0B0C4-6984-4568-8E4C-03863700AAD6}"/>
              </a:ext>
            </a:extLst>
          </p:cNvPr>
          <p:cNvSpPr>
            <a:spLocks noGrp="1"/>
          </p:cNvSpPr>
          <p:nvPr>
            <p:ph type="sldNum" sz="quarter" idx="12"/>
          </p:nvPr>
        </p:nvSpPr>
        <p:spPr/>
        <p:txBody>
          <a:bodyPr/>
          <a:lstStyle/>
          <a:p>
            <a:fld id="{2A8CBFF8-700D-4E9E-A457-92FADBD16F5F}" type="slidenum">
              <a:rPr lang="en-US" smtClean="0"/>
              <a:t>3</a:t>
            </a:fld>
            <a:endParaRPr lang="en-US"/>
          </a:p>
        </p:txBody>
      </p:sp>
    </p:spTree>
    <p:extLst>
      <p:ext uri="{BB962C8B-B14F-4D97-AF65-F5344CB8AC3E}">
        <p14:creationId xmlns:p14="http://schemas.microsoft.com/office/powerpoint/2010/main" val="2435557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16907-E4EA-4C2D-8EC2-7BB24CB3163D}"/>
              </a:ext>
            </a:extLst>
          </p:cNvPr>
          <p:cNvSpPr>
            <a:spLocks noGrp="1"/>
          </p:cNvSpPr>
          <p:nvPr>
            <p:ph type="title"/>
          </p:nvPr>
        </p:nvSpPr>
        <p:spPr/>
        <p:txBody>
          <a:bodyPr>
            <a:normAutofit/>
          </a:bodyPr>
          <a:lstStyle/>
          <a:p>
            <a:r>
              <a:rPr lang="en-US" sz="3600" b="1" dirty="0">
                <a:latin typeface="Cambria" panose="02040503050406030204" pitchFamily="18" charset="0"/>
                <a:ea typeface="Cambria" panose="02040503050406030204" pitchFamily="18" charset="0"/>
              </a:rPr>
              <a:t>Data</a:t>
            </a:r>
          </a:p>
        </p:txBody>
      </p:sp>
      <p:sp>
        <p:nvSpPr>
          <p:cNvPr id="4" name="Content Placeholder 3">
            <a:extLst>
              <a:ext uri="{FF2B5EF4-FFF2-40B4-BE49-F238E27FC236}">
                <a16:creationId xmlns:a16="http://schemas.microsoft.com/office/drawing/2014/main" id="{9107AAD9-4B82-4FAE-B6BE-A52FA2C38BA6}"/>
              </a:ext>
            </a:extLst>
          </p:cNvPr>
          <p:cNvSpPr>
            <a:spLocks noGrp="1"/>
          </p:cNvSpPr>
          <p:nvPr>
            <p:ph sz="half" idx="1"/>
          </p:nvPr>
        </p:nvSpPr>
        <p:spPr/>
        <p:txBody>
          <a:bodyPr>
            <a:normAutofit fontScale="70000" lnSpcReduction="20000"/>
          </a:bodyPr>
          <a:lstStyle/>
          <a:p>
            <a:r>
              <a:rPr lang="en-US" dirty="0"/>
              <a:t>Data utilized for the project will be collected from the five sources below. </a:t>
            </a:r>
          </a:p>
          <a:p>
            <a:pPr lvl="1"/>
            <a:r>
              <a:rPr lang="en-US" u="sng" dirty="0">
                <a:hlinkClick r:id="rId3"/>
              </a:rPr>
              <a:t>https://fredaccount.stlouisfed.org/public/datalist/5498/download</a:t>
            </a:r>
            <a:r>
              <a:rPr lang="en-US" dirty="0"/>
              <a:t> : GDP per State (2005 – 2023, Quarterly)</a:t>
            </a:r>
          </a:p>
          <a:p>
            <a:pPr lvl="1"/>
            <a:r>
              <a:rPr lang="en-US" u="sng" dirty="0">
                <a:hlinkClick r:id="rId4"/>
              </a:rPr>
              <a:t>https://edgar.jrc.ec.europa.eu/dataset_ghg2024_nuts2</a:t>
            </a:r>
            <a:r>
              <a:rPr lang="en-US" dirty="0"/>
              <a:t> : Fossil CO</a:t>
            </a:r>
            <a:r>
              <a:rPr lang="en-US" baseline="-25000" dirty="0"/>
              <a:t>2</a:t>
            </a:r>
            <a:r>
              <a:rPr lang="en-US" dirty="0"/>
              <a:t> emissions (1990 – 2023, Annual): A global dataset for all countries and across industries. </a:t>
            </a:r>
          </a:p>
          <a:p>
            <a:pPr lvl="1"/>
            <a:r>
              <a:rPr lang="en-US" u="sng" dirty="0">
                <a:hlinkClick r:id="rId4"/>
              </a:rPr>
              <a:t>https://edgar.jrc.ec.europa.eu/dataset_ghg2024_nuts2</a:t>
            </a:r>
            <a:r>
              <a:rPr lang="en-US" dirty="0"/>
              <a:t> : CH</a:t>
            </a:r>
            <a:r>
              <a:rPr lang="en-US" baseline="-25000" dirty="0"/>
              <a:t>4</a:t>
            </a:r>
            <a:r>
              <a:rPr lang="en-US" dirty="0"/>
              <a:t> emissions (1990 -2023, Annual): A global dataset for all countries and across industries. </a:t>
            </a:r>
          </a:p>
          <a:p>
            <a:pPr lvl="1"/>
            <a:r>
              <a:rPr lang="en-US" u="sng" dirty="0">
                <a:hlinkClick r:id="rId4"/>
              </a:rPr>
              <a:t>https://edgar.jrc.ec.europa.eu/dataset_ghg2024_nuts2</a:t>
            </a:r>
            <a:r>
              <a:rPr lang="en-US" dirty="0"/>
              <a:t> : N</a:t>
            </a:r>
            <a:r>
              <a:rPr lang="en-US" baseline="-25000" dirty="0"/>
              <a:t>2</a:t>
            </a:r>
            <a:r>
              <a:rPr lang="en-US" dirty="0"/>
              <a:t>O emissions (1990 -2023, Annual): A global dataset for all countries and across industries. </a:t>
            </a:r>
          </a:p>
          <a:p>
            <a:pPr lvl="1"/>
            <a:r>
              <a:rPr lang="en-US" u="sng" dirty="0">
                <a:hlinkClick r:id="rId4"/>
              </a:rPr>
              <a:t>https://edgar.jrc.ec.europa.eu/dataset_ghg2024_nuts2</a:t>
            </a:r>
            <a:r>
              <a:rPr lang="en-US" dirty="0"/>
              <a:t> : F-Gases emissions (1990 -2023, Annual): A global dataset for all countries and across industries. </a:t>
            </a:r>
          </a:p>
          <a:p>
            <a:endParaRPr lang="en-US" dirty="0"/>
          </a:p>
        </p:txBody>
      </p:sp>
      <p:pic>
        <p:nvPicPr>
          <p:cNvPr id="7" name="Content Placeholder 6">
            <a:extLst>
              <a:ext uri="{FF2B5EF4-FFF2-40B4-BE49-F238E27FC236}">
                <a16:creationId xmlns:a16="http://schemas.microsoft.com/office/drawing/2014/main" id="{72E67D78-3C09-4765-B50E-EC68943CA60A}"/>
              </a:ext>
            </a:extLst>
          </p:cNvPr>
          <p:cNvPicPr>
            <a:picLocks noGrp="1" noChangeAspect="1"/>
          </p:cNvPicPr>
          <p:nvPr>
            <p:ph sz="half" idx="2"/>
          </p:nvPr>
        </p:nvPicPr>
        <p:blipFill>
          <a:blip r:embed="rId5">
            <a:extLst>
              <a:ext uri="{28A0092B-C50C-407E-A947-70E740481C1C}">
                <a14:useLocalDpi xmlns:a14="http://schemas.microsoft.com/office/drawing/2010/main" val="0"/>
              </a:ext>
            </a:extLst>
          </a:blip>
          <a:stretch>
            <a:fillRect/>
          </a:stretch>
        </p:blipFill>
        <p:spPr>
          <a:xfrm>
            <a:off x="7024255" y="2668963"/>
            <a:ext cx="3810000" cy="1219200"/>
          </a:xfrm>
        </p:spPr>
      </p:pic>
      <p:pic>
        <p:nvPicPr>
          <p:cNvPr id="8" name="Picture 7">
            <a:extLst>
              <a:ext uri="{FF2B5EF4-FFF2-40B4-BE49-F238E27FC236}">
                <a16:creationId xmlns:a16="http://schemas.microsoft.com/office/drawing/2014/main" id="{09D90C68-31B1-4780-A468-148D740CD79F}"/>
              </a:ext>
            </a:extLst>
          </p:cNvPr>
          <p:cNvPicPr>
            <a:picLocks noChangeAspect="1"/>
          </p:cNvPicPr>
          <p:nvPr/>
        </p:nvPicPr>
        <p:blipFill rotWithShape="1">
          <a:blip r:embed="rId6"/>
          <a:srcRect l="25636" t="34182" r="10614" b="31636"/>
          <a:stretch/>
        </p:blipFill>
        <p:spPr>
          <a:xfrm>
            <a:off x="7024255" y="4291881"/>
            <a:ext cx="3810000" cy="1149113"/>
          </a:xfrm>
          <a:prstGeom prst="rect">
            <a:avLst/>
          </a:prstGeom>
        </p:spPr>
      </p:pic>
      <p:sp>
        <p:nvSpPr>
          <p:cNvPr id="9" name="Slide Number Placeholder 8">
            <a:extLst>
              <a:ext uri="{FF2B5EF4-FFF2-40B4-BE49-F238E27FC236}">
                <a16:creationId xmlns:a16="http://schemas.microsoft.com/office/drawing/2014/main" id="{7112325B-72EF-4C17-8163-ECFE669D40F0}"/>
              </a:ext>
            </a:extLst>
          </p:cNvPr>
          <p:cNvSpPr>
            <a:spLocks noGrp="1"/>
          </p:cNvSpPr>
          <p:nvPr>
            <p:ph type="sldNum" sz="quarter" idx="12"/>
          </p:nvPr>
        </p:nvSpPr>
        <p:spPr/>
        <p:txBody>
          <a:bodyPr/>
          <a:lstStyle/>
          <a:p>
            <a:fld id="{2A8CBFF8-700D-4E9E-A457-92FADBD16F5F}" type="slidenum">
              <a:rPr lang="en-US" smtClean="0"/>
              <a:t>4</a:t>
            </a:fld>
            <a:endParaRPr lang="en-US"/>
          </a:p>
        </p:txBody>
      </p:sp>
    </p:spTree>
    <p:extLst>
      <p:ext uri="{BB962C8B-B14F-4D97-AF65-F5344CB8AC3E}">
        <p14:creationId xmlns:p14="http://schemas.microsoft.com/office/powerpoint/2010/main" val="335157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477CF-BC66-448C-BDD4-3421FEB0AB71}"/>
              </a:ext>
            </a:extLst>
          </p:cNvPr>
          <p:cNvSpPr>
            <a:spLocks noGrp="1"/>
          </p:cNvSpPr>
          <p:nvPr>
            <p:ph type="title"/>
          </p:nvPr>
        </p:nvSpPr>
        <p:spPr/>
        <p:txBody>
          <a:bodyPr>
            <a:normAutofit/>
          </a:bodyPr>
          <a:lstStyle/>
          <a:p>
            <a:r>
              <a:rPr lang="en-US" sz="3600" b="1" dirty="0">
                <a:latin typeface="Cambria" panose="02040503050406030204" pitchFamily="18" charset="0"/>
                <a:ea typeface="Cambria" panose="02040503050406030204" pitchFamily="18" charset="0"/>
              </a:rPr>
              <a:t>Methodology</a:t>
            </a:r>
          </a:p>
        </p:txBody>
      </p:sp>
      <p:pic>
        <p:nvPicPr>
          <p:cNvPr id="11" name="Content Placeholder 10">
            <a:extLst>
              <a:ext uri="{FF2B5EF4-FFF2-40B4-BE49-F238E27FC236}">
                <a16:creationId xmlns:a16="http://schemas.microsoft.com/office/drawing/2014/main" id="{BFB46860-2C48-4CA2-8605-2D5F5C5A893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2" y="442087"/>
            <a:ext cx="5704554" cy="5973826"/>
          </a:xfrm>
        </p:spPr>
      </p:pic>
      <p:sp>
        <p:nvSpPr>
          <p:cNvPr id="9" name="Content Placeholder 8">
            <a:extLst>
              <a:ext uri="{FF2B5EF4-FFF2-40B4-BE49-F238E27FC236}">
                <a16:creationId xmlns:a16="http://schemas.microsoft.com/office/drawing/2014/main" id="{7B9881FC-D693-4677-8799-8884EB058ACA}"/>
              </a:ext>
            </a:extLst>
          </p:cNvPr>
          <p:cNvSpPr>
            <a:spLocks noGrp="1"/>
          </p:cNvSpPr>
          <p:nvPr>
            <p:ph sz="half" idx="1"/>
          </p:nvPr>
        </p:nvSpPr>
        <p:spPr/>
        <p:txBody>
          <a:bodyPr>
            <a:normAutofit fontScale="92500" lnSpcReduction="20000"/>
          </a:bodyPr>
          <a:lstStyle/>
          <a:p>
            <a:r>
              <a:rPr lang="en-US" dirty="0"/>
              <a:t>The chart on the right shows the project approach to the </a:t>
            </a:r>
            <a:r>
              <a:rPr lang="en-US" dirty="0">
                <a:ea typeface="Cambria" panose="02040503050406030204" pitchFamily="18" charset="0"/>
              </a:rPr>
              <a:t>prediction analysis of the contribution of emissions to the GDP of the states in the United States.</a:t>
            </a:r>
          </a:p>
          <a:p>
            <a:endParaRPr lang="en-US" dirty="0">
              <a:ea typeface="Cambria" panose="02040503050406030204" pitchFamily="18" charset="0"/>
            </a:endParaRPr>
          </a:p>
          <a:p>
            <a:r>
              <a:rPr lang="en-US" dirty="0">
                <a:ea typeface="Cambria" panose="02040503050406030204" pitchFamily="18" charset="0"/>
              </a:rPr>
              <a:t>The key analytics approaches applied were:</a:t>
            </a:r>
          </a:p>
          <a:p>
            <a:pPr lvl="1"/>
            <a:r>
              <a:rPr lang="en-US" dirty="0">
                <a:ea typeface="Cambria" panose="02040503050406030204" pitchFamily="18" charset="0"/>
              </a:rPr>
              <a:t>Principal Component Analysis</a:t>
            </a:r>
          </a:p>
          <a:p>
            <a:pPr lvl="1"/>
            <a:r>
              <a:rPr lang="en-US" dirty="0" err="1">
                <a:ea typeface="Cambria" panose="02040503050406030204" pitchFamily="18" charset="0"/>
              </a:rPr>
              <a:t>KMeans</a:t>
            </a:r>
            <a:r>
              <a:rPr lang="en-US" dirty="0">
                <a:ea typeface="Cambria" panose="02040503050406030204" pitchFamily="18" charset="0"/>
              </a:rPr>
              <a:t> Clustering</a:t>
            </a:r>
          </a:p>
          <a:p>
            <a:pPr lvl="1"/>
            <a:r>
              <a:rPr lang="en-US" dirty="0">
                <a:ea typeface="Cambria" panose="02040503050406030204" pitchFamily="18" charset="0"/>
              </a:rPr>
              <a:t>Geospatial Analysis</a:t>
            </a:r>
          </a:p>
          <a:p>
            <a:pPr lvl="1"/>
            <a:r>
              <a:rPr lang="en-US" dirty="0">
                <a:ea typeface="Cambria" panose="02040503050406030204" pitchFamily="18" charset="0"/>
              </a:rPr>
              <a:t>Predictive Modelling using Time Series Analysis</a:t>
            </a:r>
          </a:p>
          <a:p>
            <a:pPr marL="0" indent="0">
              <a:buNone/>
            </a:pPr>
            <a:endParaRPr lang="en-US" dirty="0"/>
          </a:p>
        </p:txBody>
      </p:sp>
      <p:sp>
        <p:nvSpPr>
          <p:cNvPr id="12" name="Slide Number Placeholder 11">
            <a:extLst>
              <a:ext uri="{FF2B5EF4-FFF2-40B4-BE49-F238E27FC236}">
                <a16:creationId xmlns:a16="http://schemas.microsoft.com/office/drawing/2014/main" id="{B3284B01-41F8-486D-AFA3-837A34F64F94}"/>
              </a:ext>
            </a:extLst>
          </p:cNvPr>
          <p:cNvSpPr>
            <a:spLocks noGrp="1"/>
          </p:cNvSpPr>
          <p:nvPr>
            <p:ph type="sldNum" sz="quarter" idx="12"/>
          </p:nvPr>
        </p:nvSpPr>
        <p:spPr/>
        <p:txBody>
          <a:bodyPr/>
          <a:lstStyle/>
          <a:p>
            <a:fld id="{2A8CBFF8-700D-4E9E-A457-92FADBD16F5F}" type="slidenum">
              <a:rPr lang="en-US" smtClean="0"/>
              <a:t>5</a:t>
            </a:fld>
            <a:endParaRPr lang="en-US"/>
          </a:p>
        </p:txBody>
      </p:sp>
    </p:spTree>
    <p:extLst>
      <p:ext uri="{BB962C8B-B14F-4D97-AF65-F5344CB8AC3E}">
        <p14:creationId xmlns:p14="http://schemas.microsoft.com/office/powerpoint/2010/main" val="30803098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B582545-C7C4-47E9-8180-0128786F7E34}"/>
              </a:ext>
            </a:extLst>
          </p:cNvPr>
          <p:cNvSpPr>
            <a:spLocks noGrp="1"/>
          </p:cNvSpPr>
          <p:nvPr>
            <p:ph type="title"/>
          </p:nvPr>
        </p:nvSpPr>
        <p:spPr/>
        <p:txBody>
          <a:bodyPr/>
          <a:lstStyle/>
          <a:p>
            <a:endParaRPr lang="en-US"/>
          </a:p>
        </p:txBody>
      </p:sp>
      <p:pic>
        <p:nvPicPr>
          <p:cNvPr id="10" name="Content Placeholder 9">
            <a:extLst>
              <a:ext uri="{FF2B5EF4-FFF2-40B4-BE49-F238E27FC236}">
                <a16:creationId xmlns:a16="http://schemas.microsoft.com/office/drawing/2014/main" id="{B4ACECBE-51C4-4400-AB7D-E68B5ABB2AC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1"/>
          </a:xfrm>
        </p:spPr>
      </p:pic>
      <p:sp>
        <p:nvSpPr>
          <p:cNvPr id="11" name="Slide Number Placeholder 10">
            <a:extLst>
              <a:ext uri="{FF2B5EF4-FFF2-40B4-BE49-F238E27FC236}">
                <a16:creationId xmlns:a16="http://schemas.microsoft.com/office/drawing/2014/main" id="{CDEF26D0-E006-41E8-B9AB-ACE977B69455}"/>
              </a:ext>
            </a:extLst>
          </p:cNvPr>
          <p:cNvSpPr>
            <a:spLocks noGrp="1"/>
          </p:cNvSpPr>
          <p:nvPr>
            <p:ph type="sldNum" sz="quarter" idx="12"/>
          </p:nvPr>
        </p:nvSpPr>
        <p:spPr/>
        <p:txBody>
          <a:bodyPr/>
          <a:lstStyle/>
          <a:p>
            <a:fld id="{2A8CBFF8-700D-4E9E-A457-92FADBD16F5F}" type="slidenum">
              <a:rPr lang="en-US" smtClean="0"/>
              <a:t>6</a:t>
            </a:fld>
            <a:endParaRPr lang="en-US"/>
          </a:p>
        </p:txBody>
      </p:sp>
    </p:spTree>
    <p:extLst>
      <p:ext uri="{BB962C8B-B14F-4D97-AF65-F5344CB8AC3E}">
        <p14:creationId xmlns:p14="http://schemas.microsoft.com/office/powerpoint/2010/main" val="164662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55EBD-AA92-4CC0-BA0C-4D24CD1BE973}"/>
              </a:ext>
            </a:extLst>
          </p:cNvPr>
          <p:cNvSpPr>
            <a:spLocks noGrp="1"/>
          </p:cNvSpPr>
          <p:nvPr>
            <p:ph type="title"/>
          </p:nvPr>
        </p:nvSpPr>
        <p:spPr/>
        <p:txBody>
          <a:bodyPr/>
          <a:lstStyle/>
          <a:p>
            <a:endParaRPr lang="en-US" b="1"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D8623EB5-E447-49B8-8A7E-A1E6378D2876}"/>
              </a:ext>
            </a:extLst>
          </p:cNvPr>
          <p:cNvSpPr>
            <a:spLocks noGrp="1"/>
          </p:cNvSpPr>
          <p:nvPr>
            <p:ph type="sldNum" sz="quarter" idx="12"/>
          </p:nvPr>
        </p:nvSpPr>
        <p:spPr/>
        <p:txBody>
          <a:bodyPr/>
          <a:lstStyle/>
          <a:p>
            <a:fld id="{2A8CBFF8-700D-4E9E-A457-92FADBD16F5F}" type="slidenum">
              <a:rPr lang="en-US" smtClean="0"/>
              <a:t>7</a:t>
            </a:fld>
            <a:endParaRPr lang="en-US"/>
          </a:p>
        </p:txBody>
      </p:sp>
      <p:pic>
        <p:nvPicPr>
          <p:cNvPr id="8" name="Content Placeholder 7">
            <a:extLst>
              <a:ext uri="{FF2B5EF4-FFF2-40B4-BE49-F238E27FC236}">
                <a16:creationId xmlns:a16="http://schemas.microsoft.com/office/drawing/2014/main" id="{3741C8CD-2DB0-4E1B-A475-50AF23B209D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0" y="0"/>
            <a:ext cx="12192000" cy="6858000"/>
          </a:xfrm>
        </p:spPr>
      </p:pic>
    </p:spTree>
    <p:extLst>
      <p:ext uri="{BB962C8B-B14F-4D97-AF65-F5344CB8AC3E}">
        <p14:creationId xmlns:p14="http://schemas.microsoft.com/office/powerpoint/2010/main" val="3763889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4FD54-F582-481E-B4C8-44ABFF2A4C01}"/>
              </a:ext>
            </a:extLst>
          </p:cNvPr>
          <p:cNvSpPr>
            <a:spLocks noGrp="1"/>
          </p:cNvSpPr>
          <p:nvPr>
            <p:ph type="title"/>
          </p:nvPr>
        </p:nvSpPr>
        <p:spPr>
          <a:xfrm>
            <a:off x="0" y="0"/>
            <a:ext cx="5573949" cy="885217"/>
          </a:xfrm>
        </p:spPr>
        <p:txBody>
          <a:bodyPr>
            <a:normAutofit/>
          </a:bodyPr>
          <a:lstStyle/>
          <a:p>
            <a:r>
              <a:rPr lang="en-US" sz="3600" b="1" dirty="0">
                <a:latin typeface="Cambria" panose="02040503050406030204" pitchFamily="18" charset="0"/>
                <a:ea typeface="Cambria" panose="02040503050406030204" pitchFamily="18" charset="0"/>
              </a:rPr>
              <a:t>Predictive Modelling</a:t>
            </a:r>
          </a:p>
        </p:txBody>
      </p:sp>
      <p:graphicFrame>
        <p:nvGraphicFramePr>
          <p:cNvPr id="10" name="Content Placeholder 9">
            <a:extLst>
              <a:ext uri="{FF2B5EF4-FFF2-40B4-BE49-F238E27FC236}">
                <a16:creationId xmlns:a16="http://schemas.microsoft.com/office/drawing/2014/main" id="{F2A12B32-76C4-4D50-9682-24332CD4AEBA}"/>
              </a:ext>
            </a:extLst>
          </p:cNvPr>
          <p:cNvGraphicFramePr>
            <a:graphicFrameLocks noGrp="1"/>
          </p:cNvGraphicFramePr>
          <p:nvPr>
            <p:ph sz="half" idx="2"/>
            <p:extLst>
              <p:ext uri="{D42A27DB-BD31-4B8C-83A1-F6EECF244321}">
                <p14:modId xmlns:p14="http://schemas.microsoft.com/office/powerpoint/2010/main" val="991888425"/>
              </p:ext>
            </p:extLst>
          </p:nvPr>
        </p:nvGraphicFramePr>
        <p:xfrm>
          <a:off x="3319467" y="642438"/>
          <a:ext cx="8810928" cy="2982929"/>
        </p:xfrm>
        <a:graphic>
          <a:graphicData uri="http://schemas.openxmlformats.org/drawingml/2006/table">
            <a:tbl>
              <a:tblPr>
                <a:tableStyleId>{5940675A-B579-460E-94D1-54222C63F5DA}</a:tableStyleId>
              </a:tblPr>
              <a:tblGrid>
                <a:gridCol w="1468488">
                  <a:extLst>
                    <a:ext uri="{9D8B030D-6E8A-4147-A177-3AD203B41FA5}">
                      <a16:colId xmlns:a16="http://schemas.microsoft.com/office/drawing/2014/main" val="1864155450"/>
                    </a:ext>
                  </a:extLst>
                </a:gridCol>
                <a:gridCol w="1468488">
                  <a:extLst>
                    <a:ext uri="{9D8B030D-6E8A-4147-A177-3AD203B41FA5}">
                      <a16:colId xmlns:a16="http://schemas.microsoft.com/office/drawing/2014/main" val="3293277674"/>
                    </a:ext>
                  </a:extLst>
                </a:gridCol>
                <a:gridCol w="1468488">
                  <a:extLst>
                    <a:ext uri="{9D8B030D-6E8A-4147-A177-3AD203B41FA5}">
                      <a16:colId xmlns:a16="http://schemas.microsoft.com/office/drawing/2014/main" val="1423680660"/>
                    </a:ext>
                  </a:extLst>
                </a:gridCol>
                <a:gridCol w="1468488">
                  <a:extLst>
                    <a:ext uri="{9D8B030D-6E8A-4147-A177-3AD203B41FA5}">
                      <a16:colId xmlns:a16="http://schemas.microsoft.com/office/drawing/2014/main" val="4262217330"/>
                    </a:ext>
                  </a:extLst>
                </a:gridCol>
                <a:gridCol w="1468488">
                  <a:extLst>
                    <a:ext uri="{9D8B030D-6E8A-4147-A177-3AD203B41FA5}">
                      <a16:colId xmlns:a16="http://schemas.microsoft.com/office/drawing/2014/main" val="2875187176"/>
                    </a:ext>
                  </a:extLst>
                </a:gridCol>
                <a:gridCol w="1468488">
                  <a:extLst>
                    <a:ext uri="{9D8B030D-6E8A-4147-A177-3AD203B41FA5}">
                      <a16:colId xmlns:a16="http://schemas.microsoft.com/office/drawing/2014/main" val="3674645401"/>
                    </a:ext>
                  </a:extLst>
                </a:gridCol>
              </a:tblGrid>
              <a:tr h="569447">
                <a:tc>
                  <a:txBody>
                    <a:bodyPr/>
                    <a:lstStyle/>
                    <a:p>
                      <a:pPr algn="r" fontAlgn="ctr"/>
                      <a:r>
                        <a:rPr lang="en-US" sz="1600" b="1" dirty="0">
                          <a:effectLst/>
                        </a:rPr>
                        <a:t>Model</a:t>
                      </a:r>
                    </a:p>
                  </a:txBody>
                  <a:tcPr marL="31361" marR="31361" marT="15681" marB="15681" anchor="ctr"/>
                </a:tc>
                <a:tc>
                  <a:txBody>
                    <a:bodyPr/>
                    <a:lstStyle/>
                    <a:p>
                      <a:pPr algn="r" fontAlgn="ctr"/>
                      <a:r>
                        <a:rPr lang="en-US" sz="1600" b="1" dirty="0">
                          <a:effectLst/>
                        </a:rPr>
                        <a:t>R2_Train</a:t>
                      </a:r>
                    </a:p>
                  </a:txBody>
                  <a:tcPr marL="31361" marR="31361" marT="15681" marB="15681" anchor="ctr"/>
                </a:tc>
                <a:tc>
                  <a:txBody>
                    <a:bodyPr/>
                    <a:lstStyle/>
                    <a:p>
                      <a:pPr algn="r" fontAlgn="ctr"/>
                      <a:r>
                        <a:rPr lang="en-US" sz="1600" b="1" dirty="0">
                          <a:effectLst/>
                        </a:rPr>
                        <a:t>R2_Test</a:t>
                      </a:r>
                    </a:p>
                  </a:txBody>
                  <a:tcPr marL="31361" marR="31361" marT="15681" marB="15681" anchor="ctr"/>
                </a:tc>
                <a:tc>
                  <a:txBody>
                    <a:bodyPr/>
                    <a:lstStyle/>
                    <a:p>
                      <a:pPr algn="r" fontAlgn="ctr"/>
                      <a:r>
                        <a:rPr lang="en-US" sz="1600" b="1" dirty="0" err="1">
                          <a:effectLst/>
                        </a:rPr>
                        <a:t>RMSE_Test</a:t>
                      </a:r>
                      <a:endParaRPr lang="en-US" sz="1600" b="1" dirty="0">
                        <a:effectLst/>
                      </a:endParaRPr>
                    </a:p>
                  </a:txBody>
                  <a:tcPr marL="31361" marR="31361" marT="15681" marB="15681" anchor="ctr"/>
                </a:tc>
                <a:tc>
                  <a:txBody>
                    <a:bodyPr/>
                    <a:lstStyle/>
                    <a:p>
                      <a:pPr algn="r" fontAlgn="ctr"/>
                      <a:r>
                        <a:rPr lang="en-US" sz="1600" b="1" dirty="0" err="1">
                          <a:effectLst/>
                        </a:rPr>
                        <a:t>MAE_Test</a:t>
                      </a:r>
                      <a:endParaRPr lang="en-US" sz="1600" b="1" dirty="0">
                        <a:effectLst/>
                      </a:endParaRPr>
                    </a:p>
                  </a:txBody>
                  <a:tcPr marL="31361" marR="31361" marT="15681" marB="15681" anchor="ctr"/>
                </a:tc>
                <a:tc>
                  <a:txBody>
                    <a:bodyPr/>
                    <a:lstStyle/>
                    <a:p>
                      <a:pPr algn="r" fontAlgn="ctr"/>
                      <a:r>
                        <a:rPr lang="en-US" sz="1600" b="1" dirty="0" err="1">
                          <a:effectLst/>
                        </a:rPr>
                        <a:t>MAPE_Test</a:t>
                      </a:r>
                      <a:endParaRPr lang="en-US" sz="1600" b="1" dirty="0">
                        <a:effectLst/>
                      </a:endParaRPr>
                    </a:p>
                  </a:txBody>
                  <a:tcPr marL="31361" marR="31361" marT="15681" marB="15681" anchor="ctr"/>
                </a:tc>
                <a:extLst>
                  <a:ext uri="{0D108BD9-81ED-4DB2-BD59-A6C34878D82A}">
                    <a16:rowId xmlns:a16="http://schemas.microsoft.com/office/drawing/2014/main" val="115084352"/>
                  </a:ext>
                </a:extLst>
              </a:tr>
              <a:tr h="402247">
                <a:tc>
                  <a:txBody>
                    <a:bodyPr/>
                    <a:lstStyle/>
                    <a:p>
                      <a:pPr algn="r" fontAlgn="ctr"/>
                      <a:r>
                        <a:rPr lang="en-US" sz="1100">
                          <a:effectLst/>
                        </a:rPr>
                        <a:t>XGBoost (Tuned)</a:t>
                      </a:r>
                    </a:p>
                  </a:txBody>
                  <a:tcPr marL="31361" marR="31361" marT="15681" marB="15681" anchor="ctr"/>
                </a:tc>
                <a:tc>
                  <a:txBody>
                    <a:bodyPr/>
                    <a:lstStyle/>
                    <a:p>
                      <a:pPr algn="r" fontAlgn="ctr"/>
                      <a:r>
                        <a:rPr lang="en-US" sz="1100" dirty="0">
                          <a:effectLst/>
                        </a:rPr>
                        <a:t>0.918740</a:t>
                      </a:r>
                    </a:p>
                  </a:txBody>
                  <a:tcPr marL="31361" marR="31361" marT="15681" marB="15681" anchor="ctr"/>
                </a:tc>
                <a:tc>
                  <a:txBody>
                    <a:bodyPr/>
                    <a:lstStyle/>
                    <a:p>
                      <a:pPr algn="r" fontAlgn="ctr"/>
                      <a:r>
                        <a:rPr lang="en-US" sz="1100" dirty="0">
                          <a:effectLst/>
                        </a:rPr>
                        <a:t>0.917788</a:t>
                      </a:r>
                    </a:p>
                  </a:txBody>
                  <a:tcPr marL="31361" marR="31361" marT="15681" marB="15681" anchor="ctr"/>
                </a:tc>
                <a:tc>
                  <a:txBody>
                    <a:bodyPr/>
                    <a:lstStyle/>
                    <a:p>
                      <a:pPr algn="r" fontAlgn="ctr"/>
                      <a:r>
                        <a:rPr lang="en-US" sz="1100">
                          <a:effectLst/>
                        </a:rPr>
                        <a:t>64195.240119</a:t>
                      </a:r>
                    </a:p>
                  </a:txBody>
                  <a:tcPr marL="31361" marR="31361" marT="15681" marB="15681" anchor="ctr"/>
                </a:tc>
                <a:tc>
                  <a:txBody>
                    <a:bodyPr/>
                    <a:lstStyle/>
                    <a:p>
                      <a:pPr algn="r" fontAlgn="ctr"/>
                      <a:r>
                        <a:rPr lang="en-US" sz="1100">
                          <a:effectLst/>
                        </a:rPr>
                        <a:t>41897.322010</a:t>
                      </a:r>
                    </a:p>
                  </a:txBody>
                  <a:tcPr marL="31361" marR="31361" marT="15681" marB="15681" anchor="ctr"/>
                </a:tc>
                <a:tc>
                  <a:txBody>
                    <a:bodyPr/>
                    <a:lstStyle/>
                    <a:p>
                      <a:pPr algn="r" fontAlgn="ctr"/>
                      <a:r>
                        <a:rPr lang="en-US" sz="1100">
                          <a:effectLst/>
                        </a:rPr>
                        <a:t>inf</a:t>
                      </a:r>
                    </a:p>
                  </a:txBody>
                  <a:tcPr marL="31361" marR="31361" marT="15681" marB="15681" anchor="ctr"/>
                </a:tc>
                <a:extLst>
                  <a:ext uri="{0D108BD9-81ED-4DB2-BD59-A6C34878D82A}">
                    <a16:rowId xmlns:a16="http://schemas.microsoft.com/office/drawing/2014/main" val="440214126"/>
                  </a:ext>
                </a:extLst>
              </a:tr>
              <a:tr h="402247">
                <a:tc>
                  <a:txBody>
                    <a:bodyPr/>
                    <a:lstStyle/>
                    <a:p>
                      <a:pPr algn="r" fontAlgn="ctr"/>
                      <a:r>
                        <a:rPr lang="en-US" sz="1100" dirty="0" err="1">
                          <a:effectLst/>
                        </a:rPr>
                        <a:t>LightGBM</a:t>
                      </a:r>
                      <a:r>
                        <a:rPr lang="en-US" sz="1100" dirty="0">
                          <a:effectLst/>
                        </a:rPr>
                        <a:t> (Tuned)</a:t>
                      </a:r>
                    </a:p>
                  </a:txBody>
                  <a:tcPr marL="31361" marR="31361" marT="15681" marB="15681" anchor="ctr"/>
                </a:tc>
                <a:tc>
                  <a:txBody>
                    <a:bodyPr/>
                    <a:lstStyle/>
                    <a:p>
                      <a:pPr algn="r" fontAlgn="ctr"/>
                      <a:r>
                        <a:rPr lang="en-US" sz="1100" dirty="0">
                          <a:effectLst/>
                        </a:rPr>
                        <a:t>0.921091</a:t>
                      </a:r>
                    </a:p>
                  </a:txBody>
                  <a:tcPr marL="31361" marR="31361" marT="15681" marB="15681" anchor="ctr"/>
                </a:tc>
                <a:tc>
                  <a:txBody>
                    <a:bodyPr/>
                    <a:lstStyle/>
                    <a:p>
                      <a:pPr algn="r" fontAlgn="ctr"/>
                      <a:r>
                        <a:rPr lang="en-US" sz="1100">
                          <a:effectLst/>
                        </a:rPr>
                        <a:t>0.914183</a:t>
                      </a:r>
                    </a:p>
                  </a:txBody>
                  <a:tcPr marL="31361" marR="31361" marT="15681" marB="15681" anchor="ctr"/>
                </a:tc>
                <a:tc>
                  <a:txBody>
                    <a:bodyPr/>
                    <a:lstStyle/>
                    <a:p>
                      <a:pPr algn="r" fontAlgn="ctr"/>
                      <a:r>
                        <a:rPr lang="en-US" sz="1100">
                          <a:effectLst/>
                        </a:rPr>
                        <a:t>65587.531346</a:t>
                      </a:r>
                    </a:p>
                  </a:txBody>
                  <a:tcPr marL="31361" marR="31361" marT="15681" marB="15681" anchor="ctr"/>
                </a:tc>
                <a:tc>
                  <a:txBody>
                    <a:bodyPr/>
                    <a:lstStyle/>
                    <a:p>
                      <a:pPr algn="r" fontAlgn="ctr"/>
                      <a:r>
                        <a:rPr lang="en-US" sz="1100">
                          <a:effectLst/>
                        </a:rPr>
                        <a:t>40565.209471</a:t>
                      </a:r>
                    </a:p>
                  </a:txBody>
                  <a:tcPr marL="31361" marR="31361" marT="15681" marB="15681" anchor="ctr"/>
                </a:tc>
                <a:tc>
                  <a:txBody>
                    <a:bodyPr/>
                    <a:lstStyle/>
                    <a:p>
                      <a:pPr algn="r" fontAlgn="ctr"/>
                      <a:r>
                        <a:rPr lang="en-US" sz="1100">
                          <a:effectLst/>
                        </a:rPr>
                        <a:t>inf</a:t>
                      </a:r>
                    </a:p>
                  </a:txBody>
                  <a:tcPr marL="31361" marR="31361" marT="15681" marB="15681" anchor="ctr"/>
                </a:tc>
                <a:extLst>
                  <a:ext uri="{0D108BD9-81ED-4DB2-BD59-A6C34878D82A}">
                    <a16:rowId xmlns:a16="http://schemas.microsoft.com/office/drawing/2014/main" val="65875161"/>
                  </a:ext>
                </a:extLst>
              </a:tr>
              <a:tr h="402247">
                <a:tc>
                  <a:txBody>
                    <a:bodyPr/>
                    <a:lstStyle/>
                    <a:p>
                      <a:pPr algn="r" fontAlgn="ctr"/>
                      <a:r>
                        <a:rPr lang="en-US" sz="1100" dirty="0" err="1">
                          <a:effectLst/>
                        </a:rPr>
                        <a:t>LightGBM</a:t>
                      </a:r>
                      <a:r>
                        <a:rPr lang="en-US" sz="1100" dirty="0">
                          <a:effectLst/>
                        </a:rPr>
                        <a:t> (Default)</a:t>
                      </a:r>
                    </a:p>
                  </a:txBody>
                  <a:tcPr marL="31361" marR="31361" marT="15681" marB="15681" anchor="ctr"/>
                </a:tc>
                <a:tc>
                  <a:txBody>
                    <a:bodyPr/>
                    <a:lstStyle/>
                    <a:p>
                      <a:pPr algn="r" fontAlgn="ctr"/>
                      <a:r>
                        <a:rPr lang="en-US" sz="1100">
                          <a:effectLst/>
                        </a:rPr>
                        <a:t>0.921145</a:t>
                      </a:r>
                    </a:p>
                  </a:txBody>
                  <a:tcPr marL="31361" marR="31361" marT="15681" marB="15681" anchor="ctr"/>
                </a:tc>
                <a:tc>
                  <a:txBody>
                    <a:bodyPr/>
                    <a:lstStyle/>
                    <a:p>
                      <a:pPr algn="r" fontAlgn="ctr"/>
                      <a:r>
                        <a:rPr lang="en-US" sz="1100">
                          <a:effectLst/>
                        </a:rPr>
                        <a:t>0.914067</a:t>
                      </a:r>
                    </a:p>
                  </a:txBody>
                  <a:tcPr marL="31361" marR="31361" marT="15681" marB="15681" anchor="ctr"/>
                </a:tc>
                <a:tc>
                  <a:txBody>
                    <a:bodyPr/>
                    <a:lstStyle/>
                    <a:p>
                      <a:pPr algn="r" fontAlgn="ctr"/>
                      <a:r>
                        <a:rPr lang="en-US" sz="1100">
                          <a:effectLst/>
                        </a:rPr>
                        <a:t>65631.849075</a:t>
                      </a:r>
                    </a:p>
                  </a:txBody>
                  <a:tcPr marL="31361" marR="31361" marT="15681" marB="15681" anchor="ctr"/>
                </a:tc>
                <a:tc>
                  <a:txBody>
                    <a:bodyPr/>
                    <a:lstStyle/>
                    <a:p>
                      <a:pPr algn="r" fontAlgn="ctr"/>
                      <a:r>
                        <a:rPr lang="en-US" sz="1100">
                          <a:effectLst/>
                        </a:rPr>
                        <a:t>40625.300666</a:t>
                      </a:r>
                    </a:p>
                  </a:txBody>
                  <a:tcPr marL="31361" marR="31361" marT="15681" marB="15681" anchor="ctr"/>
                </a:tc>
                <a:tc>
                  <a:txBody>
                    <a:bodyPr/>
                    <a:lstStyle/>
                    <a:p>
                      <a:pPr algn="r" fontAlgn="ctr"/>
                      <a:r>
                        <a:rPr lang="en-US" sz="1100">
                          <a:effectLst/>
                        </a:rPr>
                        <a:t>inf</a:t>
                      </a:r>
                    </a:p>
                  </a:txBody>
                  <a:tcPr marL="31361" marR="31361" marT="15681" marB="15681" anchor="ctr"/>
                </a:tc>
                <a:extLst>
                  <a:ext uri="{0D108BD9-81ED-4DB2-BD59-A6C34878D82A}">
                    <a16:rowId xmlns:a16="http://schemas.microsoft.com/office/drawing/2014/main" val="719988786"/>
                  </a:ext>
                </a:extLst>
              </a:tr>
              <a:tr h="402247">
                <a:tc>
                  <a:txBody>
                    <a:bodyPr/>
                    <a:lstStyle/>
                    <a:p>
                      <a:pPr algn="r" fontAlgn="ctr"/>
                      <a:r>
                        <a:rPr lang="en-US" sz="1100">
                          <a:effectLst/>
                        </a:rPr>
                        <a:t>Random Forest(Default)</a:t>
                      </a:r>
                    </a:p>
                  </a:txBody>
                  <a:tcPr marL="31361" marR="31361" marT="15681" marB="15681" anchor="ctr"/>
                </a:tc>
                <a:tc>
                  <a:txBody>
                    <a:bodyPr/>
                    <a:lstStyle/>
                    <a:p>
                      <a:pPr algn="r" fontAlgn="ctr"/>
                      <a:r>
                        <a:rPr lang="en-US" sz="1100">
                          <a:effectLst/>
                        </a:rPr>
                        <a:t>0.976549</a:t>
                      </a:r>
                    </a:p>
                  </a:txBody>
                  <a:tcPr marL="31361" marR="31361" marT="15681" marB="15681" anchor="ctr"/>
                </a:tc>
                <a:tc>
                  <a:txBody>
                    <a:bodyPr/>
                    <a:lstStyle/>
                    <a:p>
                      <a:pPr algn="r" fontAlgn="ctr"/>
                      <a:r>
                        <a:rPr lang="en-US" sz="1100">
                          <a:effectLst/>
                        </a:rPr>
                        <a:t>0.913549</a:t>
                      </a:r>
                    </a:p>
                  </a:txBody>
                  <a:tcPr marL="31361" marR="31361" marT="15681" marB="15681" anchor="ctr"/>
                </a:tc>
                <a:tc>
                  <a:txBody>
                    <a:bodyPr/>
                    <a:lstStyle/>
                    <a:p>
                      <a:pPr algn="r" fontAlgn="ctr"/>
                      <a:r>
                        <a:rPr lang="en-US" sz="1100">
                          <a:effectLst/>
                        </a:rPr>
                        <a:t>65829.117171</a:t>
                      </a:r>
                    </a:p>
                  </a:txBody>
                  <a:tcPr marL="31361" marR="31361" marT="15681" marB="15681" anchor="ctr"/>
                </a:tc>
                <a:tc>
                  <a:txBody>
                    <a:bodyPr/>
                    <a:lstStyle/>
                    <a:p>
                      <a:pPr algn="r" fontAlgn="ctr"/>
                      <a:r>
                        <a:rPr lang="en-US" sz="1100">
                          <a:effectLst/>
                        </a:rPr>
                        <a:t>37460.082018</a:t>
                      </a:r>
                    </a:p>
                  </a:txBody>
                  <a:tcPr marL="31361" marR="31361" marT="15681" marB="15681" anchor="ctr"/>
                </a:tc>
                <a:tc>
                  <a:txBody>
                    <a:bodyPr/>
                    <a:lstStyle/>
                    <a:p>
                      <a:pPr algn="r" fontAlgn="ctr"/>
                      <a:r>
                        <a:rPr lang="en-US" sz="1100">
                          <a:effectLst/>
                        </a:rPr>
                        <a:t>inf</a:t>
                      </a:r>
                    </a:p>
                  </a:txBody>
                  <a:tcPr marL="31361" marR="31361" marT="15681" marB="15681" anchor="ctr"/>
                </a:tc>
                <a:extLst>
                  <a:ext uri="{0D108BD9-81ED-4DB2-BD59-A6C34878D82A}">
                    <a16:rowId xmlns:a16="http://schemas.microsoft.com/office/drawing/2014/main" val="2509125349"/>
                  </a:ext>
                </a:extLst>
              </a:tr>
              <a:tr h="402247">
                <a:tc>
                  <a:txBody>
                    <a:bodyPr/>
                    <a:lstStyle/>
                    <a:p>
                      <a:pPr algn="r" fontAlgn="ctr"/>
                      <a:r>
                        <a:rPr lang="en-US" sz="1100">
                          <a:effectLst/>
                        </a:rPr>
                        <a:t>Random Forest(Tuned)</a:t>
                      </a:r>
                    </a:p>
                  </a:txBody>
                  <a:tcPr marL="31361" marR="31361" marT="15681" marB="15681" anchor="ctr"/>
                </a:tc>
                <a:tc>
                  <a:txBody>
                    <a:bodyPr/>
                    <a:lstStyle/>
                    <a:p>
                      <a:pPr algn="r" fontAlgn="ctr"/>
                      <a:r>
                        <a:rPr lang="en-US" sz="1100">
                          <a:effectLst/>
                        </a:rPr>
                        <a:t>0.942295</a:t>
                      </a:r>
                    </a:p>
                  </a:txBody>
                  <a:tcPr marL="31361" marR="31361" marT="15681" marB="15681" anchor="ctr"/>
                </a:tc>
                <a:tc>
                  <a:txBody>
                    <a:bodyPr/>
                    <a:lstStyle/>
                    <a:p>
                      <a:pPr algn="r" fontAlgn="ctr"/>
                      <a:r>
                        <a:rPr lang="en-US" sz="1100">
                          <a:effectLst/>
                        </a:rPr>
                        <a:t>0.913097</a:t>
                      </a:r>
                    </a:p>
                  </a:txBody>
                  <a:tcPr marL="31361" marR="31361" marT="15681" marB="15681" anchor="ctr"/>
                </a:tc>
                <a:tc>
                  <a:txBody>
                    <a:bodyPr/>
                    <a:lstStyle/>
                    <a:p>
                      <a:pPr algn="r" fontAlgn="ctr"/>
                      <a:r>
                        <a:rPr lang="en-US" sz="1100">
                          <a:effectLst/>
                        </a:rPr>
                        <a:t>66001.295464</a:t>
                      </a:r>
                    </a:p>
                  </a:txBody>
                  <a:tcPr marL="31361" marR="31361" marT="15681" marB="15681" anchor="ctr"/>
                </a:tc>
                <a:tc>
                  <a:txBody>
                    <a:bodyPr/>
                    <a:lstStyle/>
                    <a:p>
                      <a:pPr algn="r" fontAlgn="ctr"/>
                      <a:r>
                        <a:rPr lang="en-US" sz="1100">
                          <a:effectLst/>
                        </a:rPr>
                        <a:t>39628.905130</a:t>
                      </a:r>
                    </a:p>
                  </a:txBody>
                  <a:tcPr marL="31361" marR="31361" marT="15681" marB="15681" anchor="ctr"/>
                </a:tc>
                <a:tc>
                  <a:txBody>
                    <a:bodyPr/>
                    <a:lstStyle/>
                    <a:p>
                      <a:pPr algn="r" fontAlgn="ctr"/>
                      <a:r>
                        <a:rPr lang="en-US" sz="1100">
                          <a:effectLst/>
                        </a:rPr>
                        <a:t>inf</a:t>
                      </a:r>
                    </a:p>
                  </a:txBody>
                  <a:tcPr marL="31361" marR="31361" marT="15681" marB="15681" anchor="ctr"/>
                </a:tc>
                <a:extLst>
                  <a:ext uri="{0D108BD9-81ED-4DB2-BD59-A6C34878D82A}">
                    <a16:rowId xmlns:a16="http://schemas.microsoft.com/office/drawing/2014/main" val="3962718785"/>
                  </a:ext>
                </a:extLst>
              </a:tr>
              <a:tr h="402247">
                <a:tc>
                  <a:txBody>
                    <a:bodyPr/>
                    <a:lstStyle/>
                    <a:p>
                      <a:pPr algn="r" fontAlgn="ctr"/>
                      <a:r>
                        <a:rPr lang="en-US" sz="1100" dirty="0" err="1">
                          <a:effectLst/>
                        </a:rPr>
                        <a:t>XGBoost</a:t>
                      </a:r>
                      <a:r>
                        <a:rPr lang="en-US" sz="1100" dirty="0">
                          <a:effectLst/>
                        </a:rPr>
                        <a:t> (Default)</a:t>
                      </a:r>
                    </a:p>
                  </a:txBody>
                  <a:tcPr marL="31361" marR="31361" marT="15681" marB="15681" anchor="ctr"/>
                </a:tc>
                <a:tc>
                  <a:txBody>
                    <a:bodyPr/>
                    <a:lstStyle/>
                    <a:p>
                      <a:pPr algn="r" fontAlgn="ctr"/>
                      <a:r>
                        <a:rPr lang="en-US" sz="1100">
                          <a:effectLst/>
                        </a:rPr>
                        <a:t>0.964744</a:t>
                      </a:r>
                    </a:p>
                  </a:txBody>
                  <a:tcPr marL="31361" marR="31361" marT="15681" marB="15681" anchor="ctr"/>
                </a:tc>
                <a:tc>
                  <a:txBody>
                    <a:bodyPr/>
                    <a:lstStyle/>
                    <a:p>
                      <a:pPr algn="r" fontAlgn="ctr"/>
                      <a:r>
                        <a:rPr lang="en-US" sz="1100">
                          <a:effectLst/>
                        </a:rPr>
                        <a:t>0.893983</a:t>
                      </a:r>
                    </a:p>
                  </a:txBody>
                  <a:tcPr marL="31361" marR="31361" marT="15681" marB="15681" anchor="ctr"/>
                </a:tc>
                <a:tc>
                  <a:txBody>
                    <a:bodyPr/>
                    <a:lstStyle/>
                    <a:p>
                      <a:pPr algn="r" fontAlgn="ctr"/>
                      <a:r>
                        <a:rPr lang="en-US" sz="1100">
                          <a:effectLst/>
                        </a:rPr>
                        <a:t>72899.150064</a:t>
                      </a:r>
                    </a:p>
                  </a:txBody>
                  <a:tcPr marL="31361" marR="31361" marT="15681" marB="15681" anchor="ctr"/>
                </a:tc>
                <a:tc>
                  <a:txBody>
                    <a:bodyPr/>
                    <a:lstStyle/>
                    <a:p>
                      <a:pPr algn="r" fontAlgn="ctr"/>
                      <a:r>
                        <a:rPr lang="en-US" sz="1100">
                          <a:effectLst/>
                        </a:rPr>
                        <a:t>40130.062392</a:t>
                      </a:r>
                    </a:p>
                  </a:txBody>
                  <a:tcPr marL="31361" marR="31361" marT="15681" marB="15681" anchor="ctr"/>
                </a:tc>
                <a:tc>
                  <a:txBody>
                    <a:bodyPr/>
                    <a:lstStyle/>
                    <a:p>
                      <a:pPr algn="r" fontAlgn="ctr"/>
                      <a:r>
                        <a:rPr lang="en-US" sz="1100" dirty="0">
                          <a:effectLst/>
                        </a:rPr>
                        <a:t>inf</a:t>
                      </a:r>
                    </a:p>
                  </a:txBody>
                  <a:tcPr marL="31361" marR="31361" marT="15681" marB="15681" anchor="ctr"/>
                </a:tc>
                <a:extLst>
                  <a:ext uri="{0D108BD9-81ED-4DB2-BD59-A6C34878D82A}">
                    <a16:rowId xmlns:a16="http://schemas.microsoft.com/office/drawing/2014/main" val="4208003167"/>
                  </a:ext>
                </a:extLst>
              </a:tr>
            </a:tbl>
          </a:graphicData>
        </a:graphic>
      </p:graphicFrame>
      <p:pic>
        <p:nvPicPr>
          <p:cNvPr id="1028" name="Picture 4">
            <a:extLst>
              <a:ext uri="{FF2B5EF4-FFF2-40B4-BE49-F238E27FC236}">
                <a16:creationId xmlns:a16="http://schemas.microsoft.com/office/drawing/2014/main" id="{28F3174A-2449-40EC-AC00-E5C4F543EE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642438"/>
            <a:ext cx="3239310" cy="230638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C8AC3030-5F2C-4CD9-8E87-C32A424C94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 y="4876305"/>
            <a:ext cx="3261200" cy="1852361"/>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37AB8FD8-A7D3-414E-AF22-8CB8DEE31B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992601"/>
            <a:ext cx="3239311" cy="1839929"/>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1BC777DC-9F06-4E20-8352-B6F8265FF9E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19467" y="3625370"/>
            <a:ext cx="8872533" cy="2929784"/>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10">
            <a:extLst>
              <a:ext uri="{FF2B5EF4-FFF2-40B4-BE49-F238E27FC236}">
                <a16:creationId xmlns:a16="http://schemas.microsoft.com/office/drawing/2014/main" id="{9D92010B-72DE-4160-9FD8-7E6068C25E7B}"/>
              </a:ext>
            </a:extLst>
          </p:cNvPr>
          <p:cNvSpPr>
            <a:spLocks noGrp="1"/>
          </p:cNvSpPr>
          <p:nvPr>
            <p:ph type="sldNum" sz="quarter" idx="12"/>
          </p:nvPr>
        </p:nvSpPr>
        <p:spPr/>
        <p:txBody>
          <a:bodyPr/>
          <a:lstStyle/>
          <a:p>
            <a:fld id="{2A8CBFF8-700D-4E9E-A457-92FADBD16F5F}" type="slidenum">
              <a:rPr lang="en-US" smtClean="0"/>
              <a:t>8</a:t>
            </a:fld>
            <a:endParaRPr lang="en-US"/>
          </a:p>
        </p:txBody>
      </p:sp>
    </p:spTree>
    <p:extLst>
      <p:ext uri="{BB962C8B-B14F-4D97-AF65-F5344CB8AC3E}">
        <p14:creationId xmlns:p14="http://schemas.microsoft.com/office/powerpoint/2010/main" val="3232909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D46379-3B69-46C3-A412-4EBEA3094215}"/>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Discussion</a:t>
            </a:r>
          </a:p>
        </p:txBody>
      </p:sp>
      <p:sp>
        <p:nvSpPr>
          <p:cNvPr id="3" name="Content Placeholder 2">
            <a:extLst>
              <a:ext uri="{FF2B5EF4-FFF2-40B4-BE49-F238E27FC236}">
                <a16:creationId xmlns:a16="http://schemas.microsoft.com/office/drawing/2014/main" id="{1E9868C9-40CC-4F5F-88F1-94205D7D3F8A}"/>
              </a:ext>
            </a:extLst>
          </p:cNvPr>
          <p:cNvSpPr>
            <a:spLocks noGrp="1"/>
          </p:cNvSpPr>
          <p:nvPr>
            <p:ph idx="1"/>
          </p:nvPr>
        </p:nvSpPr>
        <p:spPr/>
        <p:txBody>
          <a:bodyPr>
            <a:normAutofit lnSpcReduction="10000"/>
          </a:bodyPr>
          <a:lstStyle/>
          <a:p>
            <a:r>
              <a:rPr lang="en-US" dirty="0"/>
              <a:t>Collectively, the manufacturing GDP for the US shows no visible pattern with fluctuations about the same range over the period between 2005 and 2023. </a:t>
            </a:r>
          </a:p>
          <a:p>
            <a:endParaRPr lang="en-US" dirty="0"/>
          </a:p>
          <a:p>
            <a:r>
              <a:rPr lang="en-US" dirty="0"/>
              <a:t>Total industrial emissions also collectively show similar behavior, with no visible pattern but rather fluctuating about the same range of values.</a:t>
            </a:r>
          </a:p>
          <a:p>
            <a:endParaRPr lang="en-US" dirty="0"/>
          </a:p>
          <a:p>
            <a:r>
              <a:rPr lang="en-US" dirty="0"/>
              <a:t>Across the combined emissions and the respective clusters, levels 1 and 2 are noted to have the states with the highest average GDP. </a:t>
            </a:r>
          </a:p>
        </p:txBody>
      </p:sp>
      <p:sp>
        <p:nvSpPr>
          <p:cNvPr id="4" name="Slide Number Placeholder 3">
            <a:extLst>
              <a:ext uri="{FF2B5EF4-FFF2-40B4-BE49-F238E27FC236}">
                <a16:creationId xmlns:a16="http://schemas.microsoft.com/office/drawing/2014/main" id="{12EDD2A8-D03F-4BC6-A5F7-342617E300E3}"/>
              </a:ext>
            </a:extLst>
          </p:cNvPr>
          <p:cNvSpPr>
            <a:spLocks noGrp="1"/>
          </p:cNvSpPr>
          <p:nvPr>
            <p:ph type="sldNum" sz="quarter" idx="12"/>
          </p:nvPr>
        </p:nvSpPr>
        <p:spPr/>
        <p:txBody>
          <a:bodyPr/>
          <a:lstStyle/>
          <a:p>
            <a:fld id="{2A8CBFF8-700D-4E9E-A457-92FADBD16F5F}" type="slidenum">
              <a:rPr lang="en-US" smtClean="0"/>
              <a:t>9</a:t>
            </a:fld>
            <a:endParaRPr lang="en-US"/>
          </a:p>
        </p:txBody>
      </p:sp>
    </p:spTree>
    <p:extLst>
      <p:ext uri="{BB962C8B-B14F-4D97-AF65-F5344CB8AC3E}">
        <p14:creationId xmlns:p14="http://schemas.microsoft.com/office/powerpoint/2010/main" val="2867091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A3D35-F9CA-4649-A0BF-0B31BD533AEB}"/>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Discussion</a:t>
            </a:r>
          </a:p>
        </p:txBody>
      </p:sp>
      <p:sp>
        <p:nvSpPr>
          <p:cNvPr id="3" name="Content Placeholder 2">
            <a:extLst>
              <a:ext uri="{FF2B5EF4-FFF2-40B4-BE49-F238E27FC236}">
                <a16:creationId xmlns:a16="http://schemas.microsoft.com/office/drawing/2014/main" id="{4BE38AB8-4B37-469A-984C-0D1C533A3EAD}"/>
              </a:ext>
            </a:extLst>
          </p:cNvPr>
          <p:cNvSpPr>
            <a:spLocks noGrp="1"/>
          </p:cNvSpPr>
          <p:nvPr>
            <p:ph idx="1"/>
          </p:nvPr>
        </p:nvSpPr>
        <p:spPr/>
        <p:txBody>
          <a:bodyPr>
            <a:normAutofit fontScale="92500" lnSpcReduction="20000"/>
          </a:bodyPr>
          <a:lstStyle/>
          <a:p>
            <a:r>
              <a:rPr lang="en-US" dirty="0"/>
              <a:t>Some level of similarity exist in the distribution of emissions and the manufacturing GDP across the states in the US; with states with higher emission levels showing higher manufacturing GDP.</a:t>
            </a:r>
          </a:p>
          <a:p>
            <a:endParaRPr lang="en-US" dirty="0"/>
          </a:p>
          <a:p>
            <a:r>
              <a:rPr lang="en-US" dirty="0"/>
              <a:t>The combined emissions and the four constitute emission types have different distribution patterns across the US. </a:t>
            </a:r>
          </a:p>
          <a:p>
            <a:endParaRPr lang="en-US" dirty="0"/>
          </a:p>
          <a:p>
            <a:r>
              <a:rPr lang="en-US" dirty="0"/>
              <a:t>The Tuned </a:t>
            </a:r>
            <a:r>
              <a:rPr lang="en-US" dirty="0" err="1"/>
              <a:t>XGBoost</a:t>
            </a:r>
            <a:r>
              <a:rPr lang="en-US" dirty="0"/>
              <a:t> model shows the best predictive performance with highest R-Squared and lowest RMSE for the test set. </a:t>
            </a:r>
          </a:p>
          <a:p>
            <a:endParaRPr lang="en-US" dirty="0"/>
          </a:p>
          <a:p>
            <a:r>
              <a:rPr lang="en-US" dirty="0"/>
              <a:t>For the Tuned </a:t>
            </a:r>
            <a:r>
              <a:rPr lang="en-US" dirty="0" err="1"/>
              <a:t>XGBoost</a:t>
            </a:r>
            <a:r>
              <a:rPr lang="en-US" dirty="0"/>
              <a:t> model, the most important features were the features for the F-Gases AR5.</a:t>
            </a:r>
          </a:p>
          <a:p>
            <a:endParaRPr lang="en-US" dirty="0"/>
          </a:p>
        </p:txBody>
      </p:sp>
      <p:sp>
        <p:nvSpPr>
          <p:cNvPr id="4" name="Slide Number Placeholder 3">
            <a:extLst>
              <a:ext uri="{FF2B5EF4-FFF2-40B4-BE49-F238E27FC236}">
                <a16:creationId xmlns:a16="http://schemas.microsoft.com/office/drawing/2014/main" id="{F1CF473D-D6BE-47C1-B059-F74682E3279D}"/>
              </a:ext>
            </a:extLst>
          </p:cNvPr>
          <p:cNvSpPr>
            <a:spLocks noGrp="1"/>
          </p:cNvSpPr>
          <p:nvPr>
            <p:ph type="sldNum" sz="quarter" idx="12"/>
          </p:nvPr>
        </p:nvSpPr>
        <p:spPr/>
        <p:txBody>
          <a:bodyPr/>
          <a:lstStyle/>
          <a:p>
            <a:fld id="{2A8CBFF8-700D-4E9E-A457-92FADBD16F5F}" type="slidenum">
              <a:rPr lang="en-US" smtClean="0"/>
              <a:t>10</a:t>
            </a:fld>
            <a:endParaRPr lang="en-US"/>
          </a:p>
        </p:txBody>
      </p:sp>
    </p:spTree>
    <p:extLst>
      <p:ext uri="{BB962C8B-B14F-4D97-AF65-F5344CB8AC3E}">
        <p14:creationId xmlns:p14="http://schemas.microsoft.com/office/powerpoint/2010/main" val="1807531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BA278E-9F35-4C97-A135-315D31D5DEFE}"/>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Conclusion</a:t>
            </a:r>
          </a:p>
        </p:txBody>
      </p:sp>
      <p:sp>
        <p:nvSpPr>
          <p:cNvPr id="3" name="Content Placeholder 2">
            <a:extLst>
              <a:ext uri="{FF2B5EF4-FFF2-40B4-BE49-F238E27FC236}">
                <a16:creationId xmlns:a16="http://schemas.microsoft.com/office/drawing/2014/main" id="{B5737565-3DFB-4138-A388-63FFDD5D348A}"/>
              </a:ext>
            </a:extLst>
          </p:cNvPr>
          <p:cNvSpPr>
            <a:spLocks noGrp="1"/>
          </p:cNvSpPr>
          <p:nvPr>
            <p:ph idx="1"/>
          </p:nvPr>
        </p:nvSpPr>
        <p:spPr/>
        <p:txBody>
          <a:bodyPr/>
          <a:lstStyle/>
          <a:p>
            <a:r>
              <a:rPr lang="en-US" dirty="0"/>
              <a:t>The different emission types separate the states in the US in terms of the states where each of the emissions shows high or low rates. </a:t>
            </a:r>
          </a:p>
          <a:p>
            <a:endParaRPr lang="en-US" dirty="0"/>
          </a:p>
          <a:p>
            <a:r>
              <a:rPr lang="en-US" dirty="0"/>
              <a:t>States in levels 1 and 2 of the emission types had the highest contributors to the GDP.</a:t>
            </a:r>
          </a:p>
          <a:p>
            <a:endParaRPr lang="en-US" dirty="0"/>
          </a:p>
          <a:p>
            <a:r>
              <a:rPr lang="en-US" dirty="0"/>
              <a:t>GDP is predictable and hence affected by the emission types with F-Gases AR5 being most impactful on the GDP in the US.</a:t>
            </a:r>
          </a:p>
        </p:txBody>
      </p:sp>
      <p:sp>
        <p:nvSpPr>
          <p:cNvPr id="4" name="Slide Number Placeholder 3">
            <a:extLst>
              <a:ext uri="{FF2B5EF4-FFF2-40B4-BE49-F238E27FC236}">
                <a16:creationId xmlns:a16="http://schemas.microsoft.com/office/drawing/2014/main" id="{7CA89C75-EC69-4B77-B54F-62CB30A2B515}"/>
              </a:ext>
            </a:extLst>
          </p:cNvPr>
          <p:cNvSpPr>
            <a:spLocks noGrp="1"/>
          </p:cNvSpPr>
          <p:nvPr>
            <p:ph type="sldNum" sz="quarter" idx="12"/>
          </p:nvPr>
        </p:nvSpPr>
        <p:spPr/>
        <p:txBody>
          <a:bodyPr/>
          <a:lstStyle/>
          <a:p>
            <a:fld id="{2A8CBFF8-700D-4E9E-A457-92FADBD16F5F}" type="slidenum">
              <a:rPr lang="en-US" smtClean="0"/>
              <a:t>11</a:t>
            </a:fld>
            <a:endParaRPr lang="en-US"/>
          </a:p>
        </p:txBody>
      </p:sp>
    </p:spTree>
    <p:extLst>
      <p:ext uri="{BB962C8B-B14F-4D97-AF65-F5344CB8AC3E}">
        <p14:creationId xmlns:p14="http://schemas.microsoft.com/office/powerpoint/2010/main" val="3352388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1D82-E12F-4765-81D9-514D88413655}"/>
              </a:ext>
            </a:extLst>
          </p:cNvPr>
          <p:cNvSpPr>
            <a:spLocks noGrp="1"/>
          </p:cNvSpPr>
          <p:nvPr>
            <p:ph type="title"/>
          </p:nvPr>
        </p:nvSpPr>
        <p:spPr/>
        <p:txBody>
          <a:bodyPr/>
          <a:lstStyle/>
          <a:p>
            <a:r>
              <a:rPr lang="en-US" b="1" dirty="0">
                <a:latin typeface="Cambria" panose="02040503050406030204" pitchFamily="18" charset="0"/>
                <a:ea typeface="Cambria" panose="02040503050406030204" pitchFamily="18" charset="0"/>
              </a:rPr>
              <a:t>References</a:t>
            </a:r>
          </a:p>
        </p:txBody>
      </p:sp>
      <p:sp>
        <p:nvSpPr>
          <p:cNvPr id="4" name="Rectangle 1">
            <a:extLst>
              <a:ext uri="{FF2B5EF4-FFF2-40B4-BE49-F238E27FC236}">
                <a16:creationId xmlns:a16="http://schemas.microsoft.com/office/drawing/2014/main" id="{EBEEE6AA-9A0E-4815-AE33-D85FEB17BF28}"/>
              </a:ext>
            </a:extLst>
          </p:cNvPr>
          <p:cNvSpPr>
            <a:spLocks noGrp="1" noChangeArrowheads="1"/>
          </p:cNvSpPr>
          <p:nvPr>
            <p:ph idx="1"/>
          </p:nvPr>
        </p:nvSpPr>
        <p:spPr bwMode="auto">
          <a:xfrm>
            <a:off x="838200" y="1609829"/>
            <a:ext cx="9741195"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Groumpos</a:t>
            </a: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 (2021). A Critical Historical and Scientific Overview of all Industrial Revolutions. </a:t>
            </a:r>
            <a:r>
              <a:rPr kumimoji="0" lang="en-US" altLang="en-US" sz="20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IFAC-</a:t>
            </a:r>
            <a:r>
              <a:rPr kumimoji="0" lang="en-US" altLang="en-US" sz="2000" b="0" i="1"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PapersOnLine</a:t>
            </a:r>
            <a:r>
              <a:rPr kumimoji="0" lang="en-US" altLang="en-US" sz="2000" b="0" i="1"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54</a:t>
            </a:r>
            <a:r>
              <a:rPr kumimoji="0" lang="en-US" altLang="en-US" sz="20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 464-471. https://doi.org/10.1016/j.ifacol.2021.10.492.</a:t>
            </a:r>
            <a:endParaRPr kumimoji="0" lang="en-US" altLang="en-US" sz="11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a:extLst>
              <a:ext uri="{FF2B5EF4-FFF2-40B4-BE49-F238E27FC236}">
                <a16:creationId xmlns:a16="http://schemas.microsoft.com/office/drawing/2014/main" id="{9F3D45F3-3131-413A-B387-A50550DD5728}"/>
              </a:ext>
            </a:extLst>
          </p:cNvPr>
          <p:cNvSpPr>
            <a:spLocks noGrp="1"/>
          </p:cNvSpPr>
          <p:nvPr>
            <p:ph type="sldNum" sz="quarter" idx="12"/>
          </p:nvPr>
        </p:nvSpPr>
        <p:spPr/>
        <p:txBody>
          <a:bodyPr/>
          <a:lstStyle/>
          <a:p>
            <a:fld id="{2A8CBFF8-700D-4E9E-A457-92FADBD16F5F}" type="slidenum">
              <a:rPr lang="en-US" smtClean="0"/>
              <a:t>12</a:t>
            </a:fld>
            <a:endParaRPr lang="en-US"/>
          </a:p>
        </p:txBody>
      </p:sp>
    </p:spTree>
    <p:extLst>
      <p:ext uri="{BB962C8B-B14F-4D97-AF65-F5344CB8AC3E}">
        <p14:creationId xmlns:p14="http://schemas.microsoft.com/office/powerpoint/2010/main" val="2457630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256</TotalTime>
  <Words>1791</Words>
  <Application>Microsoft Office PowerPoint</Application>
  <PresentationFormat>Widescreen</PresentationFormat>
  <Paragraphs>159</Paragraphs>
  <Slides>12</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Calibri Light</vt:lpstr>
      <vt:lpstr>Cambria</vt:lpstr>
      <vt:lpstr>Times New Roman</vt:lpstr>
      <vt:lpstr>Office Theme</vt:lpstr>
      <vt:lpstr>Economics of Emissions  Prediction Analysis of the Contribution of Emissions to the GDP of the states in the United States of America using a Cluster-Spatio-Temporal Approach</vt:lpstr>
      <vt:lpstr>Introduction</vt:lpstr>
      <vt:lpstr>Background</vt:lpstr>
      <vt:lpstr>Data</vt:lpstr>
      <vt:lpstr>Methodology</vt:lpstr>
      <vt:lpstr>PowerPoint Presentation</vt:lpstr>
      <vt:lpstr>PowerPoint Presentation</vt:lpstr>
      <vt:lpstr>Predictive Modelling</vt:lpstr>
      <vt:lpstr>Discussion</vt:lpstr>
      <vt:lpstr>Discussion</vt:lpstr>
      <vt:lpstr>Conclusion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dc:creator>
  <cp:lastModifiedBy> </cp:lastModifiedBy>
  <cp:revision>34</cp:revision>
  <dcterms:created xsi:type="dcterms:W3CDTF">2025-10-12T13:40:05Z</dcterms:created>
  <dcterms:modified xsi:type="dcterms:W3CDTF">2025-10-12T21:02:17Z</dcterms:modified>
</cp:coreProperties>
</file>